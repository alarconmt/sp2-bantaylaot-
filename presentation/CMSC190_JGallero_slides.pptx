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18288000" cy="10287000"/>
  <p:notesSz cx="6858000" cy="9144000"/>
  <p:embeddedFontLst>
    <p:embeddedFont>
      <p:font typeface="Open Sans Bold" charset="1" panose="020B0806030504020204"/>
      <p:regular r:id="rId28"/>
    </p:embeddedFont>
    <p:embeddedFont>
      <p:font typeface="Open Sans Light" charset="1" panose="020B0306030504020204"/>
      <p:regular r:id="rId29"/>
    </p:embeddedFont>
    <p:embeddedFont>
      <p:font typeface="Open Sans" charset="1" panose="020B0606030504020204"/>
      <p:regular r:id="rId30"/>
    </p:embeddedFont>
    <p:embeddedFont>
      <p:font typeface="Canva Sans Bold" charset="1" panose="020B0803030501040103"/>
      <p:regular r:id="rId31"/>
    </p:embeddedFont>
    <p:embeddedFont>
      <p:font typeface="Canva Sans" charset="1" panose="020B0503030501040103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jpeg" Type="http://schemas.openxmlformats.org/officeDocument/2006/relationships/image"/><Relationship Id="rId5" Target="../media/image5.jpeg" Type="http://schemas.openxmlformats.org/officeDocument/2006/relationships/image"/><Relationship Id="rId6" Target="../media/image6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jpeg" Type="http://schemas.openxmlformats.org/officeDocument/2006/relationships/image"/><Relationship Id="rId5" Target="../media/image8.png" Type="http://schemas.openxmlformats.org/officeDocument/2006/relationships/image"/><Relationship Id="rId6" Target="../media/image9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0.jpeg" Type="http://schemas.openxmlformats.org/officeDocument/2006/relationships/image"/><Relationship Id="rId5" Target="../media/image11.jpeg" Type="http://schemas.openxmlformats.org/officeDocument/2006/relationships/image"/><Relationship Id="rId6" Target="../media/image12.jpeg" Type="http://schemas.openxmlformats.org/officeDocument/2006/relationships/image"/><Relationship Id="rId7" Target="../media/image13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jpeg" Type="http://schemas.openxmlformats.org/officeDocument/2006/relationships/image"/><Relationship Id="rId6" Target="../media/image16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Relationship Id="rId6" Target="../media/image19.png" Type="http://schemas.openxmlformats.org/officeDocument/2006/relationships/image"/><Relationship Id="rId7" Target="../media/image2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7.png" Type="http://schemas.openxmlformats.org/officeDocument/2006/relationships/image"/><Relationship Id="rId5" Target="../media/image2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3.jpeg" Type="http://schemas.openxmlformats.org/officeDocument/2006/relationships/image"/><Relationship Id="rId5" Target="../media/image24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5.jpeg" Type="http://schemas.openxmlformats.org/officeDocument/2006/relationships/image"/><Relationship Id="rId5" Target="../media/image26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7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8.jpeg" Type="http://schemas.openxmlformats.org/officeDocument/2006/relationships/image"/><Relationship Id="rId5" Target="../media/image29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0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0.jpeg" Type="http://schemas.openxmlformats.org/officeDocument/2006/relationships/image"/><Relationship Id="rId5" Target="../media/image31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8.jpeg" Type="http://schemas.openxmlformats.org/officeDocument/2006/relationships/image"/><Relationship Id="rId5" Target="../media/image30.jpeg" Type="http://schemas.openxmlformats.org/officeDocument/2006/relationships/image"/><Relationship Id="rId6" Target="../media/image31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1.png" Type="http://schemas.openxmlformats.org/officeDocument/2006/relationships/image"/><Relationship Id="rId5" Target="../media/image30.jpeg" Type="http://schemas.openxmlformats.org/officeDocument/2006/relationships/image"/><Relationship Id="rId6" Target="../media/image32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33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477196" y="-6273964"/>
            <a:ext cx="32212006" cy="27883616"/>
            <a:chOff x="0" y="0"/>
            <a:chExt cx="42949342" cy="3717815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3336816" y="8935612"/>
              <a:ext cx="17476656" cy="17381329"/>
            </a:xfrm>
            <a:custGeom>
              <a:avLst/>
              <a:gdLst/>
              <a:ahLst/>
              <a:cxnLst/>
              <a:rect r="r" b="b" t="t" l="l"/>
              <a:pathLst>
                <a:path h="17381329" w="17476656">
                  <a:moveTo>
                    <a:pt x="0" y="0"/>
                  </a:moveTo>
                  <a:lnTo>
                    <a:pt x="17476656" y="0"/>
                  </a:lnTo>
                  <a:lnTo>
                    <a:pt x="17476656" y="17381329"/>
                  </a:lnTo>
                  <a:lnTo>
                    <a:pt x="0" y="173813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476656" cy="17381329"/>
            </a:xfrm>
            <a:custGeom>
              <a:avLst/>
              <a:gdLst/>
              <a:ahLst/>
              <a:cxnLst/>
              <a:rect r="r" b="b" t="t" l="l"/>
              <a:pathLst>
                <a:path h="17381329" w="17476656">
                  <a:moveTo>
                    <a:pt x="0" y="0"/>
                  </a:moveTo>
                  <a:lnTo>
                    <a:pt x="17476656" y="0"/>
                  </a:lnTo>
                  <a:lnTo>
                    <a:pt x="17476656" y="17381329"/>
                  </a:lnTo>
                  <a:lnTo>
                    <a:pt x="0" y="173813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25472686" y="1213774"/>
              <a:ext cx="17476656" cy="17381329"/>
            </a:xfrm>
            <a:custGeom>
              <a:avLst/>
              <a:gdLst/>
              <a:ahLst/>
              <a:cxnLst/>
              <a:rect r="r" b="b" t="t" l="l"/>
              <a:pathLst>
                <a:path h="17381329" w="17476656">
                  <a:moveTo>
                    <a:pt x="0" y="0"/>
                  </a:moveTo>
                  <a:lnTo>
                    <a:pt x="17476656" y="0"/>
                  </a:lnTo>
                  <a:lnTo>
                    <a:pt x="17476656" y="17381329"/>
                  </a:lnTo>
                  <a:lnTo>
                    <a:pt x="0" y="173813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3821231" y="19796825"/>
              <a:ext cx="17476656" cy="17381329"/>
            </a:xfrm>
            <a:custGeom>
              <a:avLst/>
              <a:gdLst/>
              <a:ahLst/>
              <a:cxnLst/>
              <a:rect r="r" b="b" t="t" l="l"/>
              <a:pathLst>
                <a:path h="17381329" w="17476656">
                  <a:moveTo>
                    <a:pt x="0" y="0"/>
                  </a:moveTo>
                  <a:lnTo>
                    <a:pt x="17476656" y="0"/>
                  </a:lnTo>
                  <a:lnTo>
                    <a:pt x="17476656" y="17381329"/>
                  </a:lnTo>
                  <a:lnTo>
                    <a:pt x="0" y="173813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231469"/>
            <a:chOff x="0" y="0"/>
            <a:chExt cx="4274726" cy="216795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167959"/>
            </a:xfrm>
            <a:custGeom>
              <a:avLst/>
              <a:gdLst/>
              <a:ahLst/>
              <a:cxnLst/>
              <a:rect r="r" b="b" t="t" l="l"/>
              <a:pathLst>
                <a:path h="2167959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959"/>
                  </a:lnTo>
                  <a:lnTo>
                    <a:pt x="0" y="2167959"/>
                  </a:lnTo>
                  <a:close/>
                </a:path>
              </a:pathLst>
            </a:custGeom>
            <a:solidFill>
              <a:srgbClr val="083349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4274726" cy="21584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1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8304338" y="1761109"/>
            <a:ext cx="1679323" cy="1679323"/>
          </a:xfrm>
          <a:custGeom>
            <a:avLst/>
            <a:gdLst/>
            <a:ahLst/>
            <a:cxnLst/>
            <a:rect r="r" b="b" t="t" l="l"/>
            <a:pathLst>
              <a:path h="1679323" w="1679323">
                <a:moveTo>
                  <a:pt x="0" y="0"/>
                </a:moveTo>
                <a:lnTo>
                  <a:pt x="1679324" y="0"/>
                </a:lnTo>
                <a:lnTo>
                  <a:pt x="1679324" y="1679323"/>
                </a:lnTo>
                <a:lnTo>
                  <a:pt x="0" y="16793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342755" y="4251320"/>
            <a:ext cx="15602491" cy="1922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80"/>
              </a:lnSpc>
            </a:pPr>
            <a:r>
              <a:rPr lang="en-US" b="true" sz="4495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BantayLaot: Fish Catch Documentation and IUU Fishing Monitoring for Municipal Fisheries in the Philippines Using Mobile and Web Technologies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469180" y="6974299"/>
            <a:ext cx="9349640" cy="426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93"/>
              </a:lnSpc>
            </a:pPr>
            <a:r>
              <a:rPr lang="en-US" sz="3002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Jose Benjamin Gallero and Dr. Val Randolf M. Madrid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33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25076" y="-212604"/>
            <a:ext cx="1760225" cy="10682048"/>
            <a:chOff x="0" y="0"/>
            <a:chExt cx="463598" cy="281337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3598" cy="2813379"/>
            </a:xfrm>
            <a:custGeom>
              <a:avLst/>
              <a:gdLst/>
              <a:ahLst/>
              <a:cxnLst/>
              <a:rect r="r" b="b" t="t" l="l"/>
              <a:pathLst>
                <a:path h="2813379" w="463598">
                  <a:moveTo>
                    <a:pt x="0" y="0"/>
                  </a:moveTo>
                  <a:lnTo>
                    <a:pt x="463598" y="0"/>
                  </a:lnTo>
                  <a:lnTo>
                    <a:pt x="463598" y="2813379"/>
                  </a:lnTo>
                  <a:lnTo>
                    <a:pt x="0" y="2813379"/>
                  </a:lnTo>
                  <a:close/>
                </a:path>
              </a:pathLst>
            </a:custGeom>
            <a:solidFill>
              <a:srgbClr val="0FC2DB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463598" cy="28038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1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184136">
            <a:off x="7900957" y="-2261144"/>
            <a:ext cx="13107492" cy="13035996"/>
          </a:xfrm>
          <a:custGeom>
            <a:avLst/>
            <a:gdLst/>
            <a:ahLst/>
            <a:cxnLst/>
            <a:rect r="r" b="b" t="t" l="l"/>
            <a:pathLst>
              <a:path h="13035996" w="13107492">
                <a:moveTo>
                  <a:pt x="0" y="0"/>
                </a:moveTo>
                <a:lnTo>
                  <a:pt x="13107492" y="0"/>
                </a:lnTo>
                <a:lnTo>
                  <a:pt x="13107492" y="13035996"/>
                </a:lnTo>
                <a:lnTo>
                  <a:pt x="0" y="130359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335149" y="3525419"/>
            <a:ext cx="9534883" cy="6761581"/>
            <a:chOff x="0" y="0"/>
            <a:chExt cx="12713177" cy="9015441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12713177" cy="9015441"/>
              <a:chOff x="0" y="0"/>
              <a:chExt cx="2330630" cy="1652746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330630" cy="1652746"/>
              </a:xfrm>
              <a:custGeom>
                <a:avLst/>
                <a:gdLst/>
                <a:ahLst/>
                <a:cxnLst/>
                <a:rect r="r" b="b" t="t" l="l"/>
                <a:pathLst>
                  <a:path h="1652746" w="2330630">
                    <a:moveTo>
                      <a:pt x="0" y="0"/>
                    </a:moveTo>
                    <a:lnTo>
                      <a:pt x="2330630" y="0"/>
                    </a:lnTo>
                    <a:lnTo>
                      <a:pt x="2330630" y="1652746"/>
                    </a:lnTo>
                    <a:lnTo>
                      <a:pt x="0" y="1652746"/>
                    </a:lnTo>
                    <a:close/>
                  </a:path>
                </a:pathLst>
              </a:custGeom>
              <a:solidFill>
                <a:srgbClr val="08334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9525"/>
                <a:ext cx="2330630" cy="16432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10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129804" y="774325"/>
              <a:ext cx="11865870" cy="75318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754780" indent="-377390" lvl="1">
                <a:lnSpc>
                  <a:spcPts val="7691"/>
                </a:lnSpc>
                <a:buFont typeface="Arial"/>
                <a:buChar char="•"/>
              </a:pPr>
              <a:r>
                <a:rPr lang="en-US" sz="3495">
                  <a:solidFill>
                    <a:srgbClr val="A0F5F8"/>
                  </a:solidFill>
                  <a:latin typeface="Open Sans"/>
                  <a:ea typeface="Open Sans"/>
                  <a:cs typeface="Open Sans"/>
                  <a:sym typeface="Open Sans"/>
                </a:rPr>
                <a:t>Rich maritime heritage of the Philippines</a:t>
              </a:r>
            </a:p>
            <a:p>
              <a:pPr algn="l" marL="754780" indent="-377390" lvl="1">
                <a:lnSpc>
                  <a:spcPts val="7691"/>
                </a:lnSpc>
                <a:buFont typeface="Arial"/>
                <a:buChar char="•"/>
              </a:pPr>
              <a:r>
                <a:rPr lang="en-US" b="true" sz="3495">
                  <a:solidFill>
                    <a:srgbClr val="A0F5F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Challenges: </a:t>
              </a:r>
              <a:r>
                <a:rPr lang="en-US" sz="3495">
                  <a:solidFill>
                    <a:srgbClr val="A0F5F8"/>
                  </a:solidFill>
                  <a:latin typeface="Open Sans"/>
                  <a:ea typeface="Open Sans"/>
                  <a:cs typeface="Open Sans"/>
                  <a:sym typeface="Open Sans"/>
                </a:rPr>
                <a:t>IUU fishing threatens sustainability</a:t>
              </a:r>
            </a:p>
            <a:p>
              <a:pPr algn="l" marL="754780" indent="-377390" lvl="1">
                <a:lnSpc>
                  <a:spcPts val="7691"/>
                </a:lnSpc>
                <a:buFont typeface="Arial"/>
                <a:buChar char="•"/>
              </a:pPr>
              <a:r>
                <a:rPr lang="en-US" sz="3495">
                  <a:solidFill>
                    <a:srgbClr val="A0F5F8"/>
                  </a:solidFill>
                  <a:latin typeface="Open Sans"/>
                  <a:ea typeface="Open Sans"/>
                  <a:cs typeface="Open Sans"/>
                  <a:sym typeface="Open Sans"/>
                </a:rPr>
                <a:t>Economic and social impact on coastal communities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1625138" y="498740"/>
            <a:ext cx="5250450" cy="3500300"/>
          </a:xfrm>
          <a:custGeom>
            <a:avLst/>
            <a:gdLst/>
            <a:ahLst/>
            <a:cxnLst/>
            <a:rect r="r" b="b" t="t" l="l"/>
            <a:pathLst>
              <a:path h="3500300" w="5250450">
                <a:moveTo>
                  <a:pt x="0" y="0"/>
                </a:moveTo>
                <a:lnTo>
                  <a:pt x="5250450" y="0"/>
                </a:lnTo>
                <a:lnTo>
                  <a:pt x="5250450" y="3500299"/>
                </a:lnTo>
                <a:lnTo>
                  <a:pt x="0" y="35002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8518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1357293" y="5512132"/>
            <a:ext cx="6194821" cy="4129881"/>
          </a:xfrm>
          <a:custGeom>
            <a:avLst/>
            <a:gdLst/>
            <a:ahLst/>
            <a:cxnLst/>
            <a:rect r="r" b="b" t="t" l="l"/>
            <a:pathLst>
              <a:path h="4129881" w="6194821">
                <a:moveTo>
                  <a:pt x="0" y="0"/>
                </a:moveTo>
                <a:lnTo>
                  <a:pt x="6194821" y="0"/>
                </a:lnTo>
                <a:lnTo>
                  <a:pt x="6194821" y="4129880"/>
                </a:lnTo>
                <a:lnTo>
                  <a:pt x="0" y="41298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280" t="0" r="-24052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2371540" y="429502"/>
            <a:ext cx="5354306" cy="3569537"/>
          </a:xfrm>
          <a:custGeom>
            <a:avLst/>
            <a:gdLst/>
            <a:ahLst/>
            <a:cxnLst/>
            <a:rect r="r" b="b" t="t" l="l"/>
            <a:pathLst>
              <a:path h="3569537" w="5354306">
                <a:moveTo>
                  <a:pt x="0" y="0"/>
                </a:moveTo>
                <a:lnTo>
                  <a:pt x="5354306" y="0"/>
                </a:lnTo>
                <a:lnTo>
                  <a:pt x="5354306" y="3569537"/>
                </a:lnTo>
                <a:lnTo>
                  <a:pt x="0" y="35695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063" t="0" r="-1063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-5400000">
            <a:off x="-3206170" y="5719998"/>
            <a:ext cx="7555625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Introduction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33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25076" y="-212604"/>
            <a:ext cx="1760225" cy="10682048"/>
            <a:chOff x="0" y="0"/>
            <a:chExt cx="463598" cy="281337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3598" cy="2813379"/>
            </a:xfrm>
            <a:custGeom>
              <a:avLst/>
              <a:gdLst/>
              <a:ahLst/>
              <a:cxnLst/>
              <a:rect r="r" b="b" t="t" l="l"/>
              <a:pathLst>
                <a:path h="2813379" w="463598">
                  <a:moveTo>
                    <a:pt x="0" y="0"/>
                  </a:moveTo>
                  <a:lnTo>
                    <a:pt x="463598" y="0"/>
                  </a:lnTo>
                  <a:lnTo>
                    <a:pt x="463598" y="2813379"/>
                  </a:lnTo>
                  <a:lnTo>
                    <a:pt x="0" y="2813379"/>
                  </a:lnTo>
                  <a:close/>
                </a:path>
              </a:pathLst>
            </a:custGeom>
            <a:solidFill>
              <a:srgbClr val="0FC2DB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9525"/>
              <a:ext cx="463598" cy="28038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1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184136">
            <a:off x="7900957" y="-2261144"/>
            <a:ext cx="13107492" cy="13035996"/>
          </a:xfrm>
          <a:custGeom>
            <a:avLst/>
            <a:gdLst/>
            <a:ahLst/>
            <a:cxnLst/>
            <a:rect r="r" b="b" t="t" l="l"/>
            <a:pathLst>
              <a:path h="13035996" w="13107492">
                <a:moveTo>
                  <a:pt x="0" y="0"/>
                </a:moveTo>
                <a:lnTo>
                  <a:pt x="13107492" y="0"/>
                </a:lnTo>
                <a:lnTo>
                  <a:pt x="13107492" y="13035996"/>
                </a:lnTo>
                <a:lnTo>
                  <a:pt x="0" y="130359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335149" y="5489215"/>
            <a:ext cx="6976801" cy="4797785"/>
            <a:chOff x="0" y="0"/>
            <a:chExt cx="9302402" cy="6397047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9302402" cy="6397047"/>
              <a:chOff x="0" y="0"/>
              <a:chExt cx="1705353" cy="1172732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705353" cy="1172732"/>
              </a:xfrm>
              <a:custGeom>
                <a:avLst/>
                <a:gdLst/>
                <a:ahLst/>
                <a:cxnLst/>
                <a:rect r="r" b="b" t="t" l="l"/>
                <a:pathLst>
                  <a:path h="1172732" w="1705353">
                    <a:moveTo>
                      <a:pt x="0" y="0"/>
                    </a:moveTo>
                    <a:lnTo>
                      <a:pt x="1705353" y="0"/>
                    </a:lnTo>
                    <a:lnTo>
                      <a:pt x="1705353" y="1172732"/>
                    </a:lnTo>
                    <a:lnTo>
                      <a:pt x="0" y="1172732"/>
                    </a:lnTo>
                    <a:close/>
                  </a:path>
                </a:pathLst>
              </a:custGeom>
              <a:solidFill>
                <a:srgbClr val="08334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9525"/>
                <a:ext cx="1705353" cy="116320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10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94980" y="774325"/>
              <a:ext cx="8682416" cy="49134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754779" indent="-377390" lvl="1">
                <a:lnSpc>
                  <a:spcPts val="7691"/>
                </a:lnSpc>
                <a:buFont typeface="Arial"/>
                <a:buChar char="•"/>
              </a:pPr>
              <a:r>
                <a:rPr lang="en-US" b="true" sz="3495">
                  <a:solidFill>
                    <a:srgbClr val="A0F5F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₱62 billion annual losses</a:t>
              </a:r>
            </a:p>
            <a:p>
              <a:pPr algn="l" marL="754779" indent="-377390" lvl="1">
                <a:lnSpc>
                  <a:spcPts val="7691"/>
                </a:lnSpc>
                <a:buFont typeface="Arial"/>
                <a:buChar char="•"/>
              </a:pPr>
              <a:r>
                <a:rPr lang="en-US" b="true" sz="3495">
                  <a:solidFill>
                    <a:srgbClr val="A0F5F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30%</a:t>
              </a:r>
              <a:r>
                <a:rPr lang="en-US" sz="3495">
                  <a:solidFill>
                    <a:srgbClr val="A0F5F8"/>
                  </a:solidFill>
                  <a:latin typeface="Open Sans"/>
                  <a:ea typeface="Open Sans"/>
                  <a:cs typeface="Open Sans"/>
                  <a:sym typeface="Open Sans"/>
                </a:rPr>
                <a:t> </a:t>
              </a:r>
              <a:r>
                <a:rPr lang="en-US" b="true" sz="3495">
                  <a:solidFill>
                    <a:srgbClr val="A0F5F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unregistered</a:t>
              </a:r>
            </a:p>
            <a:p>
              <a:pPr algn="l" marL="754779" indent="-377390" lvl="1">
                <a:lnSpc>
                  <a:spcPts val="7691"/>
                </a:lnSpc>
                <a:buFont typeface="Arial"/>
                <a:buChar char="•"/>
              </a:pPr>
              <a:r>
                <a:rPr lang="en-US" b="true" sz="3495">
                  <a:solidFill>
                    <a:srgbClr val="A0F5F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422,000 metric tons</a:t>
              </a:r>
            </a:p>
            <a:p>
              <a:pPr algn="l" marL="754779" indent="-377390" lvl="1">
                <a:lnSpc>
                  <a:spcPts val="7691"/>
                </a:lnSpc>
                <a:buFont typeface="Arial"/>
                <a:buChar char="•"/>
              </a:pPr>
              <a:r>
                <a:rPr lang="en-US" b="true" sz="3495">
                  <a:solidFill>
                    <a:srgbClr val="A0F5F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30.6%</a:t>
              </a:r>
              <a:r>
                <a:rPr lang="en-US" sz="3495">
                  <a:solidFill>
                    <a:srgbClr val="A0F5F8"/>
                  </a:solidFill>
                  <a:latin typeface="Open Sans"/>
                  <a:ea typeface="Open Sans"/>
                  <a:cs typeface="Open Sans"/>
                  <a:sym typeface="Open Sans"/>
                </a:rPr>
                <a:t> P</a:t>
              </a:r>
              <a:r>
                <a:rPr lang="en-US" sz="3495">
                  <a:solidFill>
                    <a:srgbClr val="A0F5F8"/>
                  </a:solidFill>
                  <a:latin typeface="Open Sans"/>
                  <a:ea typeface="Open Sans"/>
                  <a:cs typeface="Open Sans"/>
                  <a:sym typeface="Open Sans"/>
                </a:rPr>
                <a:t>overty Rates  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756591" y="1436080"/>
            <a:ext cx="7387409" cy="3707420"/>
          </a:xfrm>
          <a:custGeom>
            <a:avLst/>
            <a:gdLst/>
            <a:ahLst/>
            <a:cxnLst/>
            <a:rect r="r" b="b" t="t" l="l"/>
            <a:pathLst>
              <a:path h="3707420" w="7387409">
                <a:moveTo>
                  <a:pt x="0" y="0"/>
                </a:moveTo>
                <a:lnTo>
                  <a:pt x="7387409" y="0"/>
                </a:lnTo>
                <a:lnTo>
                  <a:pt x="7387409" y="3707420"/>
                </a:lnTo>
                <a:lnTo>
                  <a:pt x="0" y="37074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2083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483354" y="919068"/>
            <a:ext cx="7226024" cy="3902844"/>
          </a:xfrm>
          <a:custGeom>
            <a:avLst/>
            <a:gdLst/>
            <a:ahLst/>
            <a:cxnLst/>
            <a:rect r="r" b="b" t="t" l="l"/>
            <a:pathLst>
              <a:path h="3902844" w="7226024">
                <a:moveTo>
                  <a:pt x="0" y="0"/>
                </a:moveTo>
                <a:lnTo>
                  <a:pt x="7226024" y="0"/>
                </a:lnTo>
                <a:lnTo>
                  <a:pt x="7226024" y="3902844"/>
                </a:lnTo>
                <a:lnTo>
                  <a:pt x="0" y="390284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347559" y="6026702"/>
            <a:ext cx="5911741" cy="3941161"/>
          </a:xfrm>
          <a:custGeom>
            <a:avLst/>
            <a:gdLst/>
            <a:ahLst/>
            <a:cxnLst/>
            <a:rect r="r" b="b" t="t" l="l"/>
            <a:pathLst>
              <a:path h="3941161" w="5911741">
                <a:moveTo>
                  <a:pt x="0" y="0"/>
                </a:moveTo>
                <a:lnTo>
                  <a:pt x="5911741" y="0"/>
                </a:lnTo>
                <a:lnTo>
                  <a:pt x="5911741" y="3941161"/>
                </a:lnTo>
                <a:lnTo>
                  <a:pt x="0" y="394116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-5400000">
            <a:off x="-3206170" y="5719998"/>
            <a:ext cx="7555625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Problem Statement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33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84136">
            <a:off x="6447181" y="-1374498"/>
            <a:ext cx="13107492" cy="13035996"/>
          </a:xfrm>
          <a:custGeom>
            <a:avLst/>
            <a:gdLst/>
            <a:ahLst/>
            <a:cxnLst/>
            <a:rect r="r" b="b" t="t" l="l"/>
            <a:pathLst>
              <a:path h="13035996" w="13107492">
                <a:moveTo>
                  <a:pt x="0" y="0"/>
                </a:moveTo>
                <a:lnTo>
                  <a:pt x="13107492" y="0"/>
                </a:lnTo>
                <a:lnTo>
                  <a:pt x="13107492" y="13035996"/>
                </a:lnTo>
                <a:lnTo>
                  <a:pt x="0" y="130359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84136">
            <a:off x="-3699766" y="3106859"/>
            <a:ext cx="13107492" cy="13035996"/>
          </a:xfrm>
          <a:custGeom>
            <a:avLst/>
            <a:gdLst/>
            <a:ahLst/>
            <a:cxnLst/>
            <a:rect r="r" b="b" t="t" l="l"/>
            <a:pathLst>
              <a:path h="13035996" w="13107492">
                <a:moveTo>
                  <a:pt x="0" y="0"/>
                </a:moveTo>
                <a:lnTo>
                  <a:pt x="13107492" y="0"/>
                </a:lnTo>
                <a:lnTo>
                  <a:pt x="13107492" y="13035997"/>
                </a:lnTo>
                <a:lnTo>
                  <a:pt x="0" y="130359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84136">
            <a:off x="-1410344" y="-10092651"/>
            <a:ext cx="13107492" cy="13035996"/>
          </a:xfrm>
          <a:custGeom>
            <a:avLst/>
            <a:gdLst/>
            <a:ahLst/>
            <a:cxnLst/>
            <a:rect r="r" b="b" t="t" l="l"/>
            <a:pathLst>
              <a:path h="13035996" w="13107492">
                <a:moveTo>
                  <a:pt x="0" y="0"/>
                </a:moveTo>
                <a:lnTo>
                  <a:pt x="13107492" y="0"/>
                </a:lnTo>
                <a:lnTo>
                  <a:pt x="13107492" y="13035996"/>
                </a:lnTo>
                <a:lnTo>
                  <a:pt x="0" y="130359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780339" y="2592797"/>
            <a:ext cx="15933893" cy="5071246"/>
            <a:chOff x="0" y="0"/>
            <a:chExt cx="4196581" cy="133563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196581" cy="1335637"/>
            </a:xfrm>
            <a:custGeom>
              <a:avLst/>
              <a:gdLst/>
              <a:ahLst/>
              <a:cxnLst/>
              <a:rect r="r" b="b" t="t" l="l"/>
              <a:pathLst>
                <a:path h="1335637" w="4196581">
                  <a:moveTo>
                    <a:pt x="0" y="0"/>
                  </a:moveTo>
                  <a:lnTo>
                    <a:pt x="4196581" y="0"/>
                  </a:lnTo>
                  <a:lnTo>
                    <a:pt x="4196581" y="1335637"/>
                  </a:lnTo>
                  <a:lnTo>
                    <a:pt x="0" y="1335637"/>
                  </a:lnTo>
                  <a:close/>
                </a:path>
              </a:pathLst>
            </a:custGeom>
            <a:solidFill>
              <a:srgbClr val="083349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9525"/>
              <a:ext cx="4196581" cy="13261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1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548306" y="3239727"/>
            <a:ext cx="3211495" cy="3211495"/>
          </a:xfrm>
          <a:custGeom>
            <a:avLst/>
            <a:gdLst/>
            <a:ahLst/>
            <a:cxnLst/>
            <a:rect r="r" b="b" t="t" l="l"/>
            <a:pathLst>
              <a:path h="3211495" w="3211495">
                <a:moveTo>
                  <a:pt x="0" y="0"/>
                </a:moveTo>
                <a:lnTo>
                  <a:pt x="3211495" y="0"/>
                </a:lnTo>
                <a:lnTo>
                  <a:pt x="3211495" y="3211495"/>
                </a:lnTo>
                <a:lnTo>
                  <a:pt x="0" y="32114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278358" y="3239727"/>
            <a:ext cx="3211495" cy="3211495"/>
          </a:xfrm>
          <a:custGeom>
            <a:avLst/>
            <a:gdLst/>
            <a:ahLst/>
            <a:cxnLst/>
            <a:rect r="r" b="b" t="t" l="l"/>
            <a:pathLst>
              <a:path h="3211495" w="3211495">
                <a:moveTo>
                  <a:pt x="0" y="0"/>
                </a:moveTo>
                <a:lnTo>
                  <a:pt x="3211495" y="0"/>
                </a:lnTo>
                <a:lnTo>
                  <a:pt x="3211495" y="3211495"/>
                </a:lnTo>
                <a:lnTo>
                  <a:pt x="0" y="32114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006563" y="3257103"/>
            <a:ext cx="3211495" cy="3211495"/>
          </a:xfrm>
          <a:custGeom>
            <a:avLst/>
            <a:gdLst/>
            <a:ahLst/>
            <a:cxnLst/>
            <a:rect r="r" b="b" t="t" l="l"/>
            <a:pathLst>
              <a:path h="3211495" w="3211495">
                <a:moveTo>
                  <a:pt x="0" y="0"/>
                </a:moveTo>
                <a:lnTo>
                  <a:pt x="3211496" y="0"/>
                </a:lnTo>
                <a:lnTo>
                  <a:pt x="3211496" y="3211495"/>
                </a:lnTo>
                <a:lnTo>
                  <a:pt x="0" y="321149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75123" t="-75123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150958" y="6819444"/>
            <a:ext cx="2006192" cy="598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63"/>
              </a:lnSpc>
            </a:pPr>
            <a:r>
              <a:rPr lang="en-US" b="true" sz="175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Vessel Tracking Feature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881010" y="6688172"/>
            <a:ext cx="2006192" cy="291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63"/>
              </a:lnSpc>
            </a:pPr>
            <a:r>
              <a:rPr lang="en-US" b="true" sz="175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Fish Catch Documentation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609215" y="6819444"/>
            <a:ext cx="2006192" cy="598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63"/>
              </a:lnSpc>
            </a:pPr>
            <a:r>
              <a:rPr lang="en-US" b="true" sz="175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IUU Reporting Feature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3734769" y="3239727"/>
            <a:ext cx="3211495" cy="3211495"/>
          </a:xfrm>
          <a:custGeom>
            <a:avLst/>
            <a:gdLst/>
            <a:ahLst/>
            <a:cxnLst/>
            <a:rect r="r" b="b" t="t" l="l"/>
            <a:pathLst>
              <a:path h="3211495" w="3211495">
                <a:moveTo>
                  <a:pt x="0" y="0"/>
                </a:moveTo>
                <a:lnTo>
                  <a:pt x="3211495" y="0"/>
                </a:lnTo>
                <a:lnTo>
                  <a:pt x="3211495" y="3211495"/>
                </a:lnTo>
                <a:lnTo>
                  <a:pt x="0" y="321149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4337420" y="6688172"/>
            <a:ext cx="2006192" cy="598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63"/>
              </a:lnSpc>
            </a:pPr>
            <a:r>
              <a:rPr lang="en-US" b="true" sz="175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Data Visualisation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-425076" y="-212604"/>
            <a:ext cx="1760225" cy="10682048"/>
            <a:chOff x="0" y="0"/>
            <a:chExt cx="463598" cy="281337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63598" cy="2813379"/>
            </a:xfrm>
            <a:custGeom>
              <a:avLst/>
              <a:gdLst/>
              <a:ahLst/>
              <a:cxnLst/>
              <a:rect r="r" b="b" t="t" l="l"/>
              <a:pathLst>
                <a:path h="2813379" w="463598">
                  <a:moveTo>
                    <a:pt x="0" y="0"/>
                  </a:moveTo>
                  <a:lnTo>
                    <a:pt x="463598" y="0"/>
                  </a:lnTo>
                  <a:lnTo>
                    <a:pt x="463598" y="2813379"/>
                  </a:lnTo>
                  <a:lnTo>
                    <a:pt x="0" y="2813379"/>
                  </a:lnTo>
                  <a:close/>
                </a:path>
              </a:pathLst>
            </a:custGeom>
            <a:solidFill>
              <a:srgbClr val="0FC2DB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9525"/>
              <a:ext cx="463598" cy="28038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10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-5400000">
            <a:off x="-3206170" y="5719998"/>
            <a:ext cx="7555625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Objectives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33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84136">
            <a:off x="-3699766" y="3106859"/>
            <a:ext cx="13107492" cy="13035996"/>
          </a:xfrm>
          <a:custGeom>
            <a:avLst/>
            <a:gdLst/>
            <a:ahLst/>
            <a:cxnLst/>
            <a:rect r="r" b="b" t="t" l="l"/>
            <a:pathLst>
              <a:path h="13035996" w="13107492">
                <a:moveTo>
                  <a:pt x="0" y="0"/>
                </a:moveTo>
                <a:lnTo>
                  <a:pt x="13107492" y="0"/>
                </a:lnTo>
                <a:lnTo>
                  <a:pt x="13107492" y="13035997"/>
                </a:lnTo>
                <a:lnTo>
                  <a:pt x="0" y="130359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84136">
            <a:off x="-1410344" y="-10092651"/>
            <a:ext cx="13107492" cy="13035996"/>
          </a:xfrm>
          <a:custGeom>
            <a:avLst/>
            <a:gdLst/>
            <a:ahLst/>
            <a:cxnLst/>
            <a:rect r="r" b="b" t="t" l="l"/>
            <a:pathLst>
              <a:path h="13035996" w="13107492">
                <a:moveTo>
                  <a:pt x="0" y="0"/>
                </a:moveTo>
                <a:lnTo>
                  <a:pt x="13107492" y="0"/>
                </a:lnTo>
                <a:lnTo>
                  <a:pt x="13107492" y="13035996"/>
                </a:lnTo>
                <a:lnTo>
                  <a:pt x="0" y="130359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425076" y="-212604"/>
            <a:ext cx="1760225" cy="10682048"/>
            <a:chOff x="0" y="0"/>
            <a:chExt cx="463598" cy="281337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63598" cy="2813379"/>
            </a:xfrm>
            <a:custGeom>
              <a:avLst/>
              <a:gdLst/>
              <a:ahLst/>
              <a:cxnLst/>
              <a:rect r="r" b="b" t="t" l="l"/>
              <a:pathLst>
                <a:path h="2813379" w="463598">
                  <a:moveTo>
                    <a:pt x="0" y="0"/>
                  </a:moveTo>
                  <a:lnTo>
                    <a:pt x="463598" y="0"/>
                  </a:lnTo>
                  <a:lnTo>
                    <a:pt x="463598" y="2813379"/>
                  </a:lnTo>
                  <a:lnTo>
                    <a:pt x="0" y="2813379"/>
                  </a:lnTo>
                  <a:close/>
                </a:path>
              </a:pathLst>
            </a:custGeom>
            <a:solidFill>
              <a:srgbClr val="0FC2DB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463598" cy="28038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1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184136">
            <a:off x="7900957" y="-2261144"/>
            <a:ext cx="13107492" cy="13035996"/>
          </a:xfrm>
          <a:custGeom>
            <a:avLst/>
            <a:gdLst/>
            <a:ahLst/>
            <a:cxnLst/>
            <a:rect r="r" b="b" t="t" l="l"/>
            <a:pathLst>
              <a:path h="13035996" w="13107492">
                <a:moveTo>
                  <a:pt x="0" y="0"/>
                </a:moveTo>
                <a:lnTo>
                  <a:pt x="13107492" y="0"/>
                </a:lnTo>
                <a:lnTo>
                  <a:pt x="13107492" y="13035996"/>
                </a:lnTo>
                <a:lnTo>
                  <a:pt x="0" y="130359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335149" y="4750723"/>
            <a:ext cx="7808851" cy="5536277"/>
            <a:chOff x="0" y="0"/>
            <a:chExt cx="1908733" cy="135324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08733" cy="1353243"/>
            </a:xfrm>
            <a:custGeom>
              <a:avLst/>
              <a:gdLst/>
              <a:ahLst/>
              <a:cxnLst/>
              <a:rect r="r" b="b" t="t" l="l"/>
              <a:pathLst>
                <a:path h="1353243" w="1908733">
                  <a:moveTo>
                    <a:pt x="0" y="0"/>
                  </a:moveTo>
                  <a:lnTo>
                    <a:pt x="1908733" y="0"/>
                  </a:lnTo>
                  <a:lnTo>
                    <a:pt x="1908733" y="1353243"/>
                  </a:lnTo>
                  <a:lnTo>
                    <a:pt x="0" y="1353243"/>
                  </a:lnTo>
                  <a:close/>
                </a:path>
              </a:pathLst>
            </a:custGeom>
            <a:solidFill>
              <a:srgbClr val="083349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9525"/>
              <a:ext cx="1908733" cy="1343718"/>
            </a:xfrm>
            <a:prstGeom prst="rect">
              <a:avLst/>
            </a:prstGeom>
          </p:spPr>
          <p:txBody>
            <a:bodyPr anchor="ctr" rtlCol="false" tIns="54737" lIns="54737" bIns="54737" rIns="54737"/>
            <a:lstStyle/>
            <a:p>
              <a:pPr algn="ctr">
                <a:lnSpc>
                  <a:spcPts val="261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036708" y="411110"/>
            <a:ext cx="4103037" cy="4103037"/>
            <a:chOff x="0" y="0"/>
            <a:chExt cx="5470716" cy="5470716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5470716" cy="5470716"/>
              <a:chOff x="0" y="0"/>
              <a:chExt cx="1412343" cy="1412343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412343" cy="1412343"/>
              </a:xfrm>
              <a:custGeom>
                <a:avLst/>
                <a:gdLst/>
                <a:ahLst/>
                <a:cxnLst/>
                <a:rect r="r" b="b" t="t" l="l"/>
                <a:pathLst>
                  <a:path h="1412343" w="1412343">
                    <a:moveTo>
                      <a:pt x="0" y="0"/>
                    </a:moveTo>
                    <a:lnTo>
                      <a:pt x="1412343" y="0"/>
                    </a:lnTo>
                    <a:lnTo>
                      <a:pt x="1412343" y="1412343"/>
                    </a:lnTo>
                    <a:lnTo>
                      <a:pt x="0" y="1412343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9525"/>
                <a:ext cx="1412343" cy="1402818"/>
              </a:xfrm>
              <a:prstGeom prst="rect">
                <a:avLst/>
              </a:prstGeom>
            </p:spPr>
            <p:txBody>
              <a:bodyPr anchor="ctr" rtlCol="false" tIns="54737" lIns="54737" bIns="54737" rIns="54737"/>
              <a:lstStyle/>
              <a:p>
                <a:pPr algn="ctr">
                  <a:lnSpc>
                    <a:spcPts val="2610"/>
                  </a:lnSpc>
                </a:pPr>
              </a:p>
            </p:txBody>
          </p:sp>
        </p:grp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470716" cy="5470716"/>
            </a:xfrm>
            <a:custGeom>
              <a:avLst/>
              <a:gdLst/>
              <a:ahLst/>
              <a:cxnLst/>
              <a:rect r="r" b="b" t="t" l="l"/>
              <a:pathLst>
                <a:path h="5470716" w="5470716">
                  <a:moveTo>
                    <a:pt x="0" y="0"/>
                  </a:moveTo>
                  <a:lnTo>
                    <a:pt x="5470716" y="0"/>
                  </a:lnTo>
                  <a:lnTo>
                    <a:pt x="5470716" y="5470716"/>
                  </a:lnTo>
                  <a:lnTo>
                    <a:pt x="0" y="54707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11442018" y="5603232"/>
            <a:ext cx="6025369" cy="4201283"/>
          </a:xfrm>
          <a:custGeom>
            <a:avLst/>
            <a:gdLst/>
            <a:ahLst/>
            <a:cxnLst/>
            <a:rect r="r" b="b" t="t" l="l"/>
            <a:pathLst>
              <a:path h="4201283" w="6025369">
                <a:moveTo>
                  <a:pt x="0" y="0"/>
                </a:moveTo>
                <a:lnTo>
                  <a:pt x="6025370" y="0"/>
                </a:lnTo>
                <a:lnTo>
                  <a:pt x="6025370" y="4201283"/>
                </a:lnTo>
                <a:lnTo>
                  <a:pt x="0" y="42012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2853980" y="756359"/>
            <a:ext cx="5636683" cy="3757788"/>
          </a:xfrm>
          <a:custGeom>
            <a:avLst/>
            <a:gdLst/>
            <a:ahLst/>
            <a:cxnLst/>
            <a:rect r="r" b="b" t="t" l="l"/>
            <a:pathLst>
              <a:path h="3757788" w="5636683">
                <a:moveTo>
                  <a:pt x="0" y="0"/>
                </a:moveTo>
                <a:lnTo>
                  <a:pt x="5636682" y="0"/>
                </a:lnTo>
                <a:lnTo>
                  <a:pt x="5636682" y="3757788"/>
                </a:lnTo>
                <a:lnTo>
                  <a:pt x="0" y="37577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4195" t="0" r="-23952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457544" y="5283011"/>
            <a:ext cx="7371716" cy="4046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3052" indent="-321526" lvl="1">
              <a:lnSpc>
                <a:spcPts val="6552"/>
              </a:lnSpc>
              <a:buFont typeface="Arial"/>
              <a:buChar char="•"/>
            </a:pPr>
            <a:r>
              <a:rPr lang="en-US" b="true" sz="2978">
                <a:solidFill>
                  <a:srgbClr val="A0F5F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Transparency and accountability</a:t>
            </a:r>
          </a:p>
          <a:p>
            <a:pPr algn="l" marL="643052" indent="-321526" lvl="1">
              <a:lnSpc>
                <a:spcPts val="6552"/>
              </a:lnSpc>
              <a:buFont typeface="Arial"/>
              <a:buChar char="•"/>
            </a:pPr>
            <a:r>
              <a:rPr lang="en-US" b="true" sz="2978">
                <a:solidFill>
                  <a:srgbClr val="A0F5F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</a:t>
            </a:r>
            <a:r>
              <a:rPr lang="en-US" b="true" sz="2978">
                <a:solidFill>
                  <a:srgbClr val="A0F5F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ustainable fishing practices</a:t>
            </a:r>
          </a:p>
          <a:p>
            <a:pPr algn="l" marL="643052" indent="-321526" lvl="1">
              <a:lnSpc>
                <a:spcPts val="6552"/>
              </a:lnSpc>
              <a:buFont typeface="Arial"/>
              <a:buChar char="•"/>
            </a:pPr>
            <a:r>
              <a:rPr lang="en-US" b="true" sz="2978">
                <a:solidFill>
                  <a:srgbClr val="A0F5F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</a:t>
            </a:r>
            <a:r>
              <a:rPr lang="en-US" b="true" sz="2978">
                <a:solidFill>
                  <a:srgbClr val="A0F5F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ata-driven decision-making</a:t>
            </a:r>
          </a:p>
          <a:p>
            <a:pPr algn="l" marL="643052" indent="-321526" lvl="1">
              <a:lnSpc>
                <a:spcPts val="6552"/>
              </a:lnSpc>
              <a:buFont typeface="Arial"/>
              <a:buChar char="•"/>
            </a:pPr>
            <a:r>
              <a:rPr lang="en-US" b="true" sz="2978">
                <a:solidFill>
                  <a:srgbClr val="A0F5F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Benefits: fisherfolk, government, researchers</a:t>
            </a:r>
          </a:p>
        </p:txBody>
      </p:sp>
      <p:sp>
        <p:nvSpPr>
          <p:cNvPr name="TextBox 19" id="19"/>
          <p:cNvSpPr txBox="true"/>
          <p:nvPr/>
        </p:nvSpPr>
        <p:spPr>
          <a:xfrm rot="-5400000">
            <a:off x="-3206170" y="5719998"/>
            <a:ext cx="7555625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Significance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33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84136">
            <a:off x="-3699766" y="3106859"/>
            <a:ext cx="13107492" cy="13035996"/>
          </a:xfrm>
          <a:custGeom>
            <a:avLst/>
            <a:gdLst/>
            <a:ahLst/>
            <a:cxnLst/>
            <a:rect r="r" b="b" t="t" l="l"/>
            <a:pathLst>
              <a:path h="13035996" w="13107492">
                <a:moveTo>
                  <a:pt x="0" y="0"/>
                </a:moveTo>
                <a:lnTo>
                  <a:pt x="13107492" y="0"/>
                </a:lnTo>
                <a:lnTo>
                  <a:pt x="13107492" y="13035997"/>
                </a:lnTo>
                <a:lnTo>
                  <a:pt x="0" y="130359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84136">
            <a:off x="-1410344" y="-10092651"/>
            <a:ext cx="13107492" cy="13035996"/>
          </a:xfrm>
          <a:custGeom>
            <a:avLst/>
            <a:gdLst/>
            <a:ahLst/>
            <a:cxnLst/>
            <a:rect r="r" b="b" t="t" l="l"/>
            <a:pathLst>
              <a:path h="13035996" w="13107492">
                <a:moveTo>
                  <a:pt x="0" y="0"/>
                </a:moveTo>
                <a:lnTo>
                  <a:pt x="13107492" y="0"/>
                </a:lnTo>
                <a:lnTo>
                  <a:pt x="13107492" y="13035996"/>
                </a:lnTo>
                <a:lnTo>
                  <a:pt x="0" y="130359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425076" y="-212604"/>
            <a:ext cx="1760225" cy="10682048"/>
            <a:chOff x="0" y="0"/>
            <a:chExt cx="463598" cy="281337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63598" cy="2813379"/>
            </a:xfrm>
            <a:custGeom>
              <a:avLst/>
              <a:gdLst/>
              <a:ahLst/>
              <a:cxnLst/>
              <a:rect r="r" b="b" t="t" l="l"/>
              <a:pathLst>
                <a:path h="2813379" w="463598">
                  <a:moveTo>
                    <a:pt x="0" y="0"/>
                  </a:moveTo>
                  <a:lnTo>
                    <a:pt x="463598" y="0"/>
                  </a:lnTo>
                  <a:lnTo>
                    <a:pt x="463598" y="2813379"/>
                  </a:lnTo>
                  <a:lnTo>
                    <a:pt x="0" y="2813379"/>
                  </a:lnTo>
                  <a:close/>
                </a:path>
              </a:pathLst>
            </a:custGeom>
            <a:solidFill>
              <a:srgbClr val="0FC2DB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463598" cy="28038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1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184136">
            <a:off x="7900957" y="-2261144"/>
            <a:ext cx="13107492" cy="13035996"/>
          </a:xfrm>
          <a:custGeom>
            <a:avLst/>
            <a:gdLst/>
            <a:ahLst/>
            <a:cxnLst/>
            <a:rect r="r" b="b" t="t" l="l"/>
            <a:pathLst>
              <a:path h="13035996" w="13107492">
                <a:moveTo>
                  <a:pt x="0" y="0"/>
                </a:moveTo>
                <a:lnTo>
                  <a:pt x="13107492" y="0"/>
                </a:lnTo>
                <a:lnTo>
                  <a:pt x="13107492" y="13035996"/>
                </a:lnTo>
                <a:lnTo>
                  <a:pt x="0" y="130359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3311953" y="1290090"/>
            <a:ext cx="12870664" cy="7285657"/>
            <a:chOff x="0" y="0"/>
            <a:chExt cx="5970077" cy="337946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970077" cy="3379463"/>
            </a:xfrm>
            <a:custGeom>
              <a:avLst/>
              <a:gdLst/>
              <a:ahLst/>
              <a:cxnLst/>
              <a:rect r="r" b="b" t="t" l="l"/>
              <a:pathLst>
                <a:path h="3379463" w="5970077">
                  <a:moveTo>
                    <a:pt x="0" y="0"/>
                  </a:moveTo>
                  <a:lnTo>
                    <a:pt x="5970077" y="0"/>
                  </a:lnTo>
                  <a:lnTo>
                    <a:pt x="5970077" y="3379463"/>
                  </a:lnTo>
                  <a:lnTo>
                    <a:pt x="0" y="3379463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9525"/>
              <a:ext cx="5970077" cy="3369938"/>
            </a:xfrm>
            <a:prstGeom prst="rect">
              <a:avLst/>
            </a:prstGeom>
          </p:spPr>
          <p:txBody>
            <a:bodyPr anchor="ctr" rtlCol="false" tIns="28844" lIns="28844" bIns="28844" rIns="28844"/>
            <a:lstStyle/>
            <a:p>
              <a:pPr algn="l">
                <a:lnSpc>
                  <a:spcPts val="261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5974365" y="2412465"/>
            <a:ext cx="3169635" cy="705739"/>
          </a:xfrm>
          <a:custGeom>
            <a:avLst/>
            <a:gdLst/>
            <a:ahLst/>
            <a:cxnLst/>
            <a:rect r="r" b="b" t="t" l="l"/>
            <a:pathLst>
              <a:path h="705739" w="3169635">
                <a:moveTo>
                  <a:pt x="0" y="0"/>
                </a:moveTo>
                <a:lnTo>
                  <a:pt x="3169635" y="0"/>
                </a:lnTo>
                <a:lnTo>
                  <a:pt x="3169635" y="705740"/>
                </a:lnTo>
                <a:lnTo>
                  <a:pt x="0" y="7057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1886327" y="2057890"/>
            <a:ext cx="3675041" cy="1414891"/>
          </a:xfrm>
          <a:custGeom>
            <a:avLst/>
            <a:gdLst/>
            <a:ahLst/>
            <a:cxnLst/>
            <a:rect r="r" b="b" t="t" l="l"/>
            <a:pathLst>
              <a:path h="1414891" w="3675041">
                <a:moveTo>
                  <a:pt x="0" y="0"/>
                </a:moveTo>
                <a:lnTo>
                  <a:pt x="3675042" y="0"/>
                </a:lnTo>
                <a:lnTo>
                  <a:pt x="3675042" y="1414891"/>
                </a:lnTo>
                <a:lnTo>
                  <a:pt x="0" y="141489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410745" y="3808330"/>
            <a:ext cx="1745811" cy="1745811"/>
          </a:xfrm>
          <a:custGeom>
            <a:avLst/>
            <a:gdLst/>
            <a:ahLst/>
            <a:cxnLst/>
            <a:rect r="r" b="b" t="t" l="l"/>
            <a:pathLst>
              <a:path h="1745811" w="1745811">
                <a:moveTo>
                  <a:pt x="0" y="0"/>
                </a:moveTo>
                <a:lnTo>
                  <a:pt x="1745811" y="0"/>
                </a:lnTo>
                <a:lnTo>
                  <a:pt x="1745811" y="1745811"/>
                </a:lnTo>
                <a:lnTo>
                  <a:pt x="0" y="174581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028835" y="3566668"/>
            <a:ext cx="2229135" cy="2229135"/>
          </a:xfrm>
          <a:custGeom>
            <a:avLst/>
            <a:gdLst/>
            <a:ahLst/>
            <a:cxnLst/>
            <a:rect r="r" b="b" t="t" l="l"/>
            <a:pathLst>
              <a:path h="2229135" w="2229135">
                <a:moveTo>
                  <a:pt x="0" y="0"/>
                </a:moveTo>
                <a:lnTo>
                  <a:pt x="2229135" y="0"/>
                </a:lnTo>
                <a:lnTo>
                  <a:pt x="2229135" y="2229135"/>
                </a:lnTo>
                <a:lnTo>
                  <a:pt x="0" y="222913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-5400000">
            <a:off x="-3206170" y="5719998"/>
            <a:ext cx="7555625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Methodology Overview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243826" y="6351617"/>
            <a:ext cx="11006919" cy="1553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7457" indent="-318728" lvl="1">
              <a:lnSpc>
                <a:spcPts val="4133"/>
              </a:lnSpc>
              <a:buFont typeface="Arial"/>
              <a:buChar char="•"/>
            </a:pPr>
            <a:r>
              <a:rPr lang="en-US" b="true" sz="2952">
                <a:solidFill>
                  <a:srgbClr val="08334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Technology: </a:t>
            </a:r>
            <a:r>
              <a:rPr lang="en-US" sz="2952">
                <a:solidFill>
                  <a:srgbClr val="083349"/>
                </a:solidFill>
                <a:latin typeface="Canva Sans"/>
                <a:ea typeface="Canva Sans"/>
                <a:cs typeface="Canva Sans"/>
                <a:sym typeface="Canva Sans"/>
              </a:rPr>
              <a:t>Kotlin (Mobile), MERN Stack (Web)</a:t>
            </a:r>
          </a:p>
          <a:p>
            <a:pPr algn="l" marL="637457" indent="-318728" lvl="1">
              <a:lnSpc>
                <a:spcPts val="4133"/>
              </a:lnSpc>
              <a:buFont typeface="Arial"/>
              <a:buChar char="•"/>
            </a:pPr>
            <a:r>
              <a:rPr lang="en-US" b="true" sz="2952">
                <a:solidFill>
                  <a:srgbClr val="08334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Development Tools: </a:t>
            </a:r>
            <a:r>
              <a:rPr lang="en-US" sz="2952">
                <a:solidFill>
                  <a:srgbClr val="083349"/>
                </a:solidFill>
                <a:latin typeface="Canva Sans"/>
                <a:ea typeface="Canva Sans"/>
                <a:cs typeface="Canva Sans"/>
                <a:sym typeface="Canva Sans"/>
              </a:rPr>
              <a:t>Android Studio, Visual Studio Code</a:t>
            </a:r>
          </a:p>
          <a:p>
            <a:pPr algn="l" marL="637457" indent="-318728" lvl="1">
              <a:lnSpc>
                <a:spcPts val="4133"/>
              </a:lnSpc>
              <a:buFont typeface="Arial"/>
              <a:buChar char="•"/>
            </a:pPr>
            <a:r>
              <a:rPr lang="en-US" b="true" sz="2952">
                <a:solidFill>
                  <a:srgbClr val="08334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System Components: </a:t>
            </a:r>
            <a:r>
              <a:rPr lang="en-US" sz="2952">
                <a:solidFill>
                  <a:srgbClr val="083349"/>
                </a:solidFill>
                <a:latin typeface="Canva Sans"/>
                <a:ea typeface="Canva Sans"/>
                <a:cs typeface="Canva Sans"/>
                <a:sym typeface="Canva Sans"/>
              </a:rPr>
              <a:t>Mobile App &amp; Web Platform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33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84136">
            <a:off x="6447181" y="-1374498"/>
            <a:ext cx="13107492" cy="13035996"/>
          </a:xfrm>
          <a:custGeom>
            <a:avLst/>
            <a:gdLst/>
            <a:ahLst/>
            <a:cxnLst/>
            <a:rect r="r" b="b" t="t" l="l"/>
            <a:pathLst>
              <a:path h="13035996" w="13107492">
                <a:moveTo>
                  <a:pt x="0" y="0"/>
                </a:moveTo>
                <a:lnTo>
                  <a:pt x="13107492" y="0"/>
                </a:lnTo>
                <a:lnTo>
                  <a:pt x="13107492" y="13035996"/>
                </a:lnTo>
                <a:lnTo>
                  <a:pt x="0" y="130359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84136">
            <a:off x="-3699766" y="3106859"/>
            <a:ext cx="13107492" cy="13035996"/>
          </a:xfrm>
          <a:custGeom>
            <a:avLst/>
            <a:gdLst/>
            <a:ahLst/>
            <a:cxnLst/>
            <a:rect r="r" b="b" t="t" l="l"/>
            <a:pathLst>
              <a:path h="13035996" w="13107492">
                <a:moveTo>
                  <a:pt x="0" y="0"/>
                </a:moveTo>
                <a:lnTo>
                  <a:pt x="13107492" y="0"/>
                </a:lnTo>
                <a:lnTo>
                  <a:pt x="13107492" y="13035997"/>
                </a:lnTo>
                <a:lnTo>
                  <a:pt x="0" y="130359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84136">
            <a:off x="-1410344" y="-10092651"/>
            <a:ext cx="13107492" cy="13035996"/>
          </a:xfrm>
          <a:custGeom>
            <a:avLst/>
            <a:gdLst/>
            <a:ahLst/>
            <a:cxnLst/>
            <a:rect r="r" b="b" t="t" l="l"/>
            <a:pathLst>
              <a:path h="13035996" w="13107492">
                <a:moveTo>
                  <a:pt x="0" y="0"/>
                </a:moveTo>
                <a:lnTo>
                  <a:pt x="13107492" y="0"/>
                </a:lnTo>
                <a:lnTo>
                  <a:pt x="13107492" y="13035996"/>
                </a:lnTo>
                <a:lnTo>
                  <a:pt x="0" y="130359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3767580" y="1387228"/>
            <a:ext cx="13187837" cy="7559950"/>
            <a:chOff x="0" y="0"/>
            <a:chExt cx="3473340" cy="199109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473340" cy="1991098"/>
            </a:xfrm>
            <a:custGeom>
              <a:avLst/>
              <a:gdLst/>
              <a:ahLst/>
              <a:cxnLst/>
              <a:rect r="r" b="b" t="t" l="l"/>
              <a:pathLst>
                <a:path h="1991098" w="3473340">
                  <a:moveTo>
                    <a:pt x="0" y="0"/>
                  </a:moveTo>
                  <a:lnTo>
                    <a:pt x="3473340" y="0"/>
                  </a:lnTo>
                  <a:lnTo>
                    <a:pt x="3473340" y="1991098"/>
                  </a:lnTo>
                  <a:lnTo>
                    <a:pt x="0" y="1991098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9525"/>
              <a:ext cx="3473340" cy="19815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61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853459" y="2786649"/>
            <a:ext cx="4773236" cy="1062791"/>
          </a:xfrm>
          <a:custGeom>
            <a:avLst/>
            <a:gdLst/>
            <a:ahLst/>
            <a:cxnLst/>
            <a:rect r="r" b="b" t="t" l="l"/>
            <a:pathLst>
              <a:path h="1062791" w="4773236">
                <a:moveTo>
                  <a:pt x="0" y="0"/>
                </a:moveTo>
                <a:lnTo>
                  <a:pt x="4773236" y="0"/>
                </a:lnTo>
                <a:lnTo>
                  <a:pt x="4773236" y="1062791"/>
                </a:lnTo>
                <a:lnTo>
                  <a:pt x="0" y="10627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767580" y="2395668"/>
            <a:ext cx="11161670" cy="5457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51891" indent="-475946" lvl="1">
              <a:lnSpc>
                <a:spcPts val="6172"/>
              </a:lnSpc>
              <a:buFont typeface="Arial"/>
              <a:buChar char="•"/>
            </a:pPr>
            <a:r>
              <a:rPr lang="en-US" sz="4408">
                <a:solidFill>
                  <a:srgbClr val="083349"/>
                </a:solidFill>
                <a:latin typeface="Canva Sans"/>
                <a:ea typeface="Canva Sans"/>
                <a:cs typeface="Canva Sans"/>
                <a:sym typeface="Canva Sans"/>
              </a:rPr>
              <a:t>Kotlin</a:t>
            </a:r>
          </a:p>
          <a:p>
            <a:pPr algn="l" marL="951891" indent="-475946" lvl="1">
              <a:lnSpc>
                <a:spcPts val="6172"/>
              </a:lnSpc>
              <a:buFont typeface="Arial"/>
              <a:buChar char="•"/>
            </a:pPr>
            <a:r>
              <a:rPr lang="en-US" sz="4408">
                <a:solidFill>
                  <a:srgbClr val="083349"/>
                </a:solidFill>
                <a:latin typeface="Canva Sans"/>
                <a:ea typeface="Canva Sans"/>
                <a:cs typeface="Canva Sans"/>
                <a:sym typeface="Canva Sans"/>
              </a:rPr>
              <a:t>Jetpack</a:t>
            </a:r>
            <a:r>
              <a:rPr lang="en-US" b="true" sz="4408">
                <a:solidFill>
                  <a:srgbClr val="08334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</a:p>
          <a:p>
            <a:pPr algn="l" marL="951891" indent="-475946" lvl="1">
              <a:lnSpc>
                <a:spcPts val="6172"/>
              </a:lnSpc>
              <a:buFont typeface="Arial"/>
              <a:buChar char="•"/>
            </a:pPr>
            <a:r>
              <a:rPr lang="en-US" sz="4408">
                <a:solidFill>
                  <a:srgbClr val="083349"/>
                </a:solidFill>
                <a:latin typeface="Canva Sans"/>
                <a:ea typeface="Canva Sans"/>
                <a:cs typeface="Canva Sans"/>
                <a:sym typeface="Canva Sans"/>
              </a:rPr>
              <a:t>Compose Room </a:t>
            </a:r>
          </a:p>
          <a:p>
            <a:pPr algn="l" marL="951891" indent="-475946" lvl="1">
              <a:lnSpc>
                <a:spcPts val="6172"/>
              </a:lnSpc>
              <a:buFont typeface="Arial"/>
              <a:buChar char="•"/>
            </a:pPr>
            <a:r>
              <a:rPr lang="en-US" b="true" sz="4408">
                <a:solidFill>
                  <a:srgbClr val="08334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Features: </a:t>
            </a:r>
          </a:p>
          <a:p>
            <a:pPr algn="l" marL="1903783" indent="-634594" lvl="2">
              <a:lnSpc>
                <a:spcPts val="6172"/>
              </a:lnSpc>
              <a:buFont typeface="Arial"/>
              <a:buChar char="⚬"/>
            </a:pPr>
            <a:r>
              <a:rPr lang="en-US" sz="4408">
                <a:solidFill>
                  <a:srgbClr val="083349"/>
                </a:solidFill>
                <a:latin typeface="Canva Sans"/>
                <a:ea typeface="Canva Sans"/>
                <a:cs typeface="Canva Sans"/>
                <a:sym typeface="Canva Sans"/>
              </a:rPr>
              <a:t>GPS Tracking</a:t>
            </a:r>
          </a:p>
          <a:p>
            <a:pPr algn="l" marL="1903783" indent="-634594" lvl="2">
              <a:lnSpc>
                <a:spcPts val="6172"/>
              </a:lnSpc>
              <a:buFont typeface="Arial"/>
              <a:buChar char="⚬"/>
            </a:pPr>
            <a:r>
              <a:rPr lang="en-US" sz="4408">
                <a:solidFill>
                  <a:srgbClr val="083349"/>
                </a:solidFill>
                <a:latin typeface="Canva Sans"/>
                <a:ea typeface="Canva Sans"/>
                <a:cs typeface="Canva Sans"/>
                <a:sym typeface="Canva Sans"/>
              </a:rPr>
              <a:t>Offline Mode</a:t>
            </a:r>
          </a:p>
          <a:p>
            <a:pPr algn="l" marL="1903783" indent="-634594" lvl="2">
              <a:lnSpc>
                <a:spcPts val="6172"/>
              </a:lnSpc>
              <a:buFont typeface="Arial"/>
              <a:buChar char="⚬"/>
            </a:pPr>
            <a:r>
              <a:rPr lang="en-US" sz="4408">
                <a:solidFill>
                  <a:srgbClr val="083349"/>
                </a:solidFill>
                <a:latin typeface="Canva Sans"/>
                <a:ea typeface="Canva Sans"/>
                <a:cs typeface="Canva Sans"/>
                <a:sym typeface="Canva Sans"/>
              </a:rPr>
              <a:t>Violation Reporting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2700115" y="5143500"/>
            <a:ext cx="2229135" cy="2229135"/>
          </a:xfrm>
          <a:custGeom>
            <a:avLst/>
            <a:gdLst/>
            <a:ahLst/>
            <a:cxnLst/>
            <a:rect r="r" b="b" t="t" l="l"/>
            <a:pathLst>
              <a:path h="2229135" w="2229135">
                <a:moveTo>
                  <a:pt x="0" y="0"/>
                </a:moveTo>
                <a:lnTo>
                  <a:pt x="2229135" y="0"/>
                </a:lnTo>
                <a:lnTo>
                  <a:pt x="2229135" y="2229135"/>
                </a:lnTo>
                <a:lnTo>
                  <a:pt x="0" y="22291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-425076" y="-212604"/>
            <a:ext cx="1760225" cy="10682048"/>
            <a:chOff x="0" y="0"/>
            <a:chExt cx="463598" cy="281337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3598" cy="2813379"/>
            </a:xfrm>
            <a:custGeom>
              <a:avLst/>
              <a:gdLst/>
              <a:ahLst/>
              <a:cxnLst/>
              <a:rect r="r" b="b" t="t" l="l"/>
              <a:pathLst>
                <a:path h="2813379" w="463598">
                  <a:moveTo>
                    <a:pt x="0" y="0"/>
                  </a:moveTo>
                  <a:lnTo>
                    <a:pt x="463598" y="0"/>
                  </a:lnTo>
                  <a:lnTo>
                    <a:pt x="463598" y="2813379"/>
                  </a:lnTo>
                  <a:lnTo>
                    <a:pt x="0" y="2813379"/>
                  </a:lnTo>
                  <a:close/>
                </a:path>
              </a:pathLst>
            </a:custGeom>
            <a:solidFill>
              <a:srgbClr val="0FC2DB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9525"/>
              <a:ext cx="463598" cy="28038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10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-5400000">
            <a:off x="-3816265" y="5109902"/>
            <a:ext cx="8775815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Technology Stack - Mobile Application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33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84136">
            <a:off x="6447181" y="-1374498"/>
            <a:ext cx="13107492" cy="13035996"/>
          </a:xfrm>
          <a:custGeom>
            <a:avLst/>
            <a:gdLst/>
            <a:ahLst/>
            <a:cxnLst/>
            <a:rect r="r" b="b" t="t" l="l"/>
            <a:pathLst>
              <a:path h="13035996" w="13107492">
                <a:moveTo>
                  <a:pt x="0" y="0"/>
                </a:moveTo>
                <a:lnTo>
                  <a:pt x="13107492" y="0"/>
                </a:lnTo>
                <a:lnTo>
                  <a:pt x="13107492" y="13035996"/>
                </a:lnTo>
                <a:lnTo>
                  <a:pt x="0" y="130359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84136">
            <a:off x="-3699766" y="3106859"/>
            <a:ext cx="13107492" cy="13035996"/>
          </a:xfrm>
          <a:custGeom>
            <a:avLst/>
            <a:gdLst/>
            <a:ahLst/>
            <a:cxnLst/>
            <a:rect r="r" b="b" t="t" l="l"/>
            <a:pathLst>
              <a:path h="13035996" w="13107492">
                <a:moveTo>
                  <a:pt x="0" y="0"/>
                </a:moveTo>
                <a:lnTo>
                  <a:pt x="13107492" y="0"/>
                </a:lnTo>
                <a:lnTo>
                  <a:pt x="13107492" y="13035997"/>
                </a:lnTo>
                <a:lnTo>
                  <a:pt x="0" y="130359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84136">
            <a:off x="-1410344" y="-10092651"/>
            <a:ext cx="13107492" cy="13035996"/>
          </a:xfrm>
          <a:custGeom>
            <a:avLst/>
            <a:gdLst/>
            <a:ahLst/>
            <a:cxnLst/>
            <a:rect r="r" b="b" t="t" l="l"/>
            <a:pathLst>
              <a:path h="13035996" w="13107492">
                <a:moveTo>
                  <a:pt x="0" y="0"/>
                </a:moveTo>
                <a:lnTo>
                  <a:pt x="13107492" y="0"/>
                </a:lnTo>
                <a:lnTo>
                  <a:pt x="13107492" y="13035996"/>
                </a:lnTo>
                <a:lnTo>
                  <a:pt x="0" y="130359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3767580" y="1387228"/>
            <a:ext cx="13187837" cy="7559950"/>
            <a:chOff x="0" y="0"/>
            <a:chExt cx="3473340" cy="199109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473340" cy="1991098"/>
            </a:xfrm>
            <a:custGeom>
              <a:avLst/>
              <a:gdLst/>
              <a:ahLst/>
              <a:cxnLst/>
              <a:rect r="r" b="b" t="t" l="l"/>
              <a:pathLst>
                <a:path h="1991098" w="3473340">
                  <a:moveTo>
                    <a:pt x="0" y="0"/>
                  </a:moveTo>
                  <a:lnTo>
                    <a:pt x="3473340" y="0"/>
                  </a:lnTo>
                  <a:lnTo>
                    <a:pt x="3473340" y="1991098"/>
                  </a:lnTo>
                  <a:lnTo>
                    <a:pt x="0" y="1991098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9525"/>
              <a:ext cx="3473340" cy="19815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61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767580" y="2414718"/>
            <a:ext cx="8932534" cy="6227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1785" indent="-380893" lvl="1">
              <a:lnSpc>
                <a:spcPts val="4939"/>
              </a:lnSpc>
              <a:buFont typeface="Arial"/>
              <a:buChar char="•"/>
            </a:pPr>
            <a:r>
              <a:rPr lang="en-US" b="true" sz="3528">
                <a:solidFill>
                  <a:srgbClr val="08334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Stack: </a:t>
            </a:r>
          </a:p>
          <a:p>
            <a:pPr algn="l" marL="1523571" indent="-507857" lvl="2">
              <a:lnSpc>
                <a:spcPts val="4939"/>
              </a:lnSpc>
              <a:buFont typeface="Arial"/>
              <a:buChar char="⚬"/>
            </a:pPr>
            <a:r>
              <a:rPr lang="en-US" sz="3528">
                <a:solidFill>
                  <a:srgbClr val="083349"/>
                </a:solidFill>
                <a:latin typeface="Canva Sans"/>
                <a:ea typeface="Canva Sans"/>
                <a:cs typeface="Canva Sans"/>
                <a:sym typeface="Canva Sans"/>
              </a:rPr>
              <a:t>MongoDB</a:t>
            </a:r>
          </a:p>
          <a:p>
            <a:pPr algn="l" marL="1523571" indent="-507857" lvl="2">
              <a:lnSpc>
                <a:spcPts val="4939"/>
              </a:lnSpc>
              <a:buFont typeface="Arial"/>
              <a:buChar char="⚬"/>
            </a:pPr>
            <a:r>
              <a:rPr lang="en-US" sz="3528">
                <a:solidFill>
                  <a:srgbClr val="083349"/>
                </a:solidFill>
                <a:latin typeface="Canva Sans"/>
                <a:ea typeface="Canva Sans"/>
                <a:cs typeface="Canva Sans"/>
                <a:sym typeface="Canva Sans"/>
              </a:rPr>
              <a:t>Express.js</a:t>
            </a:r>
          </a:p>
          <a:p>
            <a:pPr algn="l" marL="1523571" indent="-507857" lvl="2">
              <a:lnSpc>
                <a:spcPts val="4939"/>
              </a:lnSpc>
              <a:buFont typeface="Arial"/>
              <a:buChar char="⚬"/>
            </a:pPr>
            <a:r>
              <a:rPr lang="en-US" sz="3528">
                <a:solidFill>
                  <a:srgbClr val="083349"/>
                </a:solidFill>
                <a:latin typeface="Canva Sans"/>
                <a:ea typeface="Canva Sans"/>
                <a:cs typeface="Canva Sans"/>
                <a:sym typeface="Canva Sans"/>
              </a:rPr>
              <a:t>React</a:t>
            </a:r>
          </a:p>
          <a:p>
            <a:pPr algn="l" marL="1523571" indent="-507857" lvl="2">
              <a:lnSpc>
                <a:spcPts val="4939"/>
              </a:lnSpc>
              <a:buFont typeface="Arial"/>
              <a:buChar char="⚬"/>
            </a:pPr>
            <a:r>
              <a:rPr lang="en-US" sz="3528">
                <a:solidFill>
                  <a:srgbClr val="083349"/>
                </a:solidFill>
                <a:latin typeface="Canva Sans"/>
                <a:ea typeface="Canva Sans"/>
                <a:cs typeface="Canva Sans"/>
                <a:sym typeface="Canva Sans"/>
              </a:rPr>
              <a:t>Node.js</a:t>
            </a:r>
          </a:p>
          <a:p>
            <a:pPr algn="l" marL="761785" indent="-380893" lvl="1">
              <a:lnSpc>
                <a:spcPts val="4939"/>
              </a:lnSpc>
              <a:buFont typeface="Arial"/>
              <a:buChar char="•"/>
            </a:pPr>
            <a:r>
              <a:rPr lang="en-US" b="true" sz="3528">
                <a:solidFill>
                  <a:srgbClr val="08334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Features: </a:t>
            </a:r>
          </a:p>
          <a:p>
            <a:pPr algn="l" marL="1523571" indent="-507857" lvl="2">
              <a:lnSpc>
                <a:spcPts val="4939"/>
              </a:lnSpc>
              <a:buFont typeface="Arial"/>
              <a:buChar char="⚬"/>
            </a:pPr>
            <a:r>
              <a:rPr lang="en-US" sz="3528">
                <a:solidFill>
                  <a:srgbClr val="083349"/>
                </a:solidFill>
                <a:latin typeface="Canva Sans"/>
                <a:ea typeface="Canva Sans"/>
                <a:cs typeface="Canva Sans"/>
                <a:sym typeface="Canva Sans"/>
              </a:rPr>
              <a:t>Geospatial Visualization</a:t>
            </a:r>
          </a:p>
          <a:p>
            <a:pPr algn="l" marL="1523571" indent="-507857" lvl="2">
              <a:lnSpc>
                <a:spcPts val="4939"/>
              </a:lnSpc>
              <a:buFont typeface="Arial"/>
              <a:buChar char="⚬"/>
            </a:pPr>
            <a:r>
              <a:rPr lang="en-US" sz="3528">
                <a:solidFill>
                  <a:srgbClr val="083349"/>
                </a:solidFill>
                <a:latin typeface="Canva Sans"/>
                <a:ea typeface="Canva Sans"/>
                <a:cs typeface="Canva Sans"/>
                <a:sym typeface="Canva Sans"/>
              </a:rPr>
              <a:t>CPUE Analysis</a:t>
            </a:r>
          </a:p>
          <a:p>
            <a:pPr algn="l" marL="1523571" indent="-507857" lvl="2">
              <a:lnSpc>
                <a:spcPts val="4939"/>
              </a:lnSpc>
              <a:buFont typeface="Arial"/>
              <a:buChar char="⚬"/>
            </a:pPr>
            <a:r>
              <a:rPr lang="en-US" sz="3528">
                <a:solidFill>
                  <a:srgbClr val="083349"/>
                </a:solidFill>
                <a:latin typeface="Canva Sans"/>
                <a:ea typeface="Canva Sans"/>
                <a:cs typeface="Canva Sans"/>
                <a:sym typeface="Canva Sans"/>
              </a:rPr>
              <a:t>Data Filtering</a:t>
            </a:r>
          </a:p>
          <a:p>
            <a:pPr algn="l">
              <a:lnSpc>
                <a:spcPts val="4939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0239747" y="2181788"/>
            <a:ext cx="5952310" cy="2291639"/>
          </a:xfrm>
          <a:custGeom>
            <a:avLst/>
            <a:gdLst/>
            <a:ahLst/>
            <a:cxnLst/>
            <a:rect r="r" b="b" t="t" l="l"/>
            <a:pathLst>
              <a:path h="2291639" w="5952310">
                <a:moveTo>
                  <a:pt x="0" y="0"/>
                </a:moveTo>
                <a:lnTo>
                  <a:pt x="5952309" y="0"/>
                </a:lnTo>
                <a:lnTo>
                  <a:pt x="5952309" y="2291639"/>
                </a:lnTo>
                <a:lnTo>
                  <a:pt x="0" y="22916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700115" y="5681601"/>
            <a:ext cx="2074707" cy="2074707"/>
          </a:xfrm>
          <a:custGeom>
            <a:avLst/>
            <a:gdLst/>
            <a:ahLst/>
            <a:cxnLst/>
            <a:rect r="r" b="b" t="t" l="l"/>
            <a:pathLst>
              <a:path h="2074707" w="2074707">
                <a:moveTo>
                  <a:pt x="0" y="0"/>
                </a:moveTo>
                <a:lnTo>
                  <a:pt x="2074707" y="0"/>
                </a:lnTo>
                <a:lnTo>
                  <a:pt x="2074707" y="2074707"/>
                </a:lnTo>
                <a:lnTo>
                  <a:pt x="0" y="20747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-425076" y="-212604"/>
            <a:ext cx="1760225" cy="10682048"/>
            <a:chOff x="0" y="0"/>
            <a:chExt cx="463598" cy="281337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3598" cy="2813379"/>
            </a:xfrm>
            <a:custGeom>
              <a:avLst/>
              <a:gdLst/>
              <a:ahLst/>
              <a:cxnLst/>
              <a:rect r="r" b="b" t="t" l="l"/>
              <a:pathLst>
                <a:path h="2813379" w="463598">
                  <a:moveTo>
                    <a:pt x="0" y="0"/>
                  </a:moveTo>
                  <a:lnTo>
                    <a:pt x="463598" y="0"/>
                  </a:lnTo>
                  <a:lnTo>
                    <a:pt x="463598" y="2813379"/>
                  </a:lnTo>
                  <a:lnTo>
                    <a:pt x="0" y="2813379"/>
                  </a:lnTo>
                  <a:close/>
                </a:path>
              </a:pathLst>
            </a:custGeom>
            <a:solidFill>
              <a:srgbClr val="0FC2DB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9525"/>
              <a:ext cx="463598" cy="28038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10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-5400000">
            <a:off x="-3471113" y="5455054"/>
            <a:ext cx="8085514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Technology Stack - Web Platform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33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84136">
            <a:off x="-2146475" y="-886378"/>
            <a:ext cx="13107492" cy="13035996"/>
          </a:xfrm>
          <a:custGeom>
            <a:avLst/>
            <a:gdLst/>
            <a:ahLst/>
            <a:cxnLst/>
            <a:rect r="r" b="b" t="t" l="l"/>
            <a:pathLst>
              <a:path h="13035996" w="13107492">
                <a:moveTo>
                  <a:pt x="0" y="0"/>
                </a:moveTo>
                <a:lnTo>
                  <a:pt x="13107492" y="0"/>
                </a:lnTo>
                <a:lnTo>
                  <a:pt x="13107492" y="13035997"/>
                </a:lnTo>
                <a:lnTo>
                  <a:pt x="0" y="130359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84136">
            <a:off x="7661298" y="-5860926"/>
            <a:ext cx="13107492" cy="13035996"/>
          </a:xfrm>
          <a:custGeom>
            <a:avLst/>
            <a:gdLst/>
            <a:ahLst/>
            <a:cxnLst/>
            <a:rect r="r" b="b" t="t" l="l"/>
            <a:pathLst>
              <a:path h="13035996" w="13107492">
                <a:moveTo>
                  <a:pt x="0" y="0"/>
                </a:moveTo>
                <a:lnTo>
                  <a:pt x="13107492" y="0"/>
                </a:lnTo>
                <a:lnTo>
                  <a:pt x="13107492" y="13035997"/>
                </a:lnTo>
                <a:lnTo>
                  <a:pt x="0" y="130359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425076" y="-212604"/>
            <a:ext cx="1760225" cy="10682048"/>
            <a:chOff x="0" y="0"/>
            <a:chExt cx="463598" cy="281337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63598" cy="2813379"/>
            </a:xfrm>
            <a:custGeom>
              <a:avLst/>
              <a:gdLst/>
              <a:ahLst/>
              <a:cxnLst/>
              <a:rect r="r" b="b" t="t" l="l"/>
              <a:pathLst>
                <a:path h="2813379" w="463598">
                  <a:moveTo>
                    <a:pt x="0" y="0"/>
                  </a:moveTo>
                  <a:lnTo>
                    <a:pt x="463598" y="0"/>
                  </a:lnTo>
                  <a:lnTo>
                    <a:pt x="463598" y="2813379"/>
                  </a:lnTo>
                  <a:lnTo>
                    <a:pt x="0" y="2813379"/>
                  </a:lnTo>
                  <a:close/>
                </a:path>
              </a:pathLst>
            </a:custGeom>
            <a:solidFill>
              <a:srgbClr val="0FC2DB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463598" cy="28038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1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-5400000">
            <a:off x="-3816265" y="5109902"/>
            <a:ext cx="8775815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Data Collection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2487127" y="870074"/>
            <a:ext cx="14483155" cy="8546851"/>
            <a:chOff x="0" y="0"/>
            <a:chExt cx="19310873" cy="11395801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19310873" cy="11395801"/>
              <a:chOff x="0" y="0"/>
              <a:chExt cx="3187063" cy="1880761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3187063" cy="1880761"/>
              </a:xfrm>
              <a:custGeom>
                <a:avLst/>
                <a:gdLst/>
                <a:ahLst/>
                <a:cxnLst/>
                <a:rect r="r" b="b" t="t" l="l"/>
                <a:pathLst>
                  <a:path h="1880761" w="3187063">
                    <a:moveTo>
                      <a:pt x="0" y="0"/>
                    </a:moveTo>
                    <a:lnTo>
                      <a:pt x="3187063" y="0"/>
                    </a:lnTo>
                    <a:lnTo>
                      <a:pt x="3187063" y="1880761"/>
                    </a:lnTo>
                    <a:lnTo>
                      <a:pt x="0" y="1880761"/>
                    </a:lnTo>
                    <a:close/>
                  </a:path>
                </a:pathLst>
              </a:custGeom>
              <a:solidFill>
                <a:srgbClr val="08334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9525"/>
                <a:ext cx="3187063" cy="18712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10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197168" y="848363"/>
              <a:ext cx="18023843" cy="97596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838399" indent="-419200" lvl="1">
                <a:lnSpc>
                  <a:spcPts val="8543"/>
                </a:lnSpc>
                <a:buFont typeface="Arial"/>
                <a:buChar char="•"/>
              </a:pPr>
              <a:r>
                <a:rPr lang="en-US" b="true" sz="3883">
                  <a:solidFill>
                    <a:srgbClr val="A0F5F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Session Data:</a:t>
              </a:r>
            </a:p>
            <a:p>
              <a:pPr algn="l" marL="1676798" indent="-558933" lvl="2">
                <a:lnSpc>
                  <a:spcPts val="8543"/>
                </a:lnSpc>
                <a:buFont typeface="Arial"/>
                <a:buChar char="⚬"/>
              </a:pPr>
              <a:r>
                <a:rPr lang="en-US" sz="3883">
                  <a:solidFill>
                    <a:srgbClr val="A0F5F8"/>
                  </a:solidFill>
                  <a:latin typeface="Open Sans"/>
                  <a:ea typeface="Open Sans"/>
                  <a:cs typeface="Open Sans"/>
                  <a:sym typeface="Open Sans"/>
                </a:rPr>
                <a:t>Fishing Gear: Types used during sessions</a:t>
              </a:r>
            </a:p>
            <a:p>
              <a:pPr algn="l" marL="2515197" indent="-628799" lvl="3">
                <a:lnSpc>
                  <a:spcPts val="8543"/>
                </a:lnSpc>
                <a:buFont typeface="Arial"/>
                <a:buChar char="￭"/>
              </a:pPr>
              <a:r>
                <a:rPr lang="en-US" sz="3883">
                  <a:solidFill>
                    <a:srgbClr val="A0F5F8"/>
                  </a:solidFill>
                  <a:latin typeface="Open Sans"/>
                  <a:ea typeface="Open Sans"/>
                  <a:cs typeface="Open Sans"/>
                  <a:sym typeface="Open Sans"/>
                </a:rPr>
                <a:t>Fish Catch Information: Species and catch weights for each gear</a:t>
              </a:r>
            </a:p>
            <a:p>
              <a:pPr algn="l" marL="1676798" indent="-558933" lvl="2">
                <a:lnSpc>
                  <a:spcPts val="8543"/>
                </a:lnSpc>
                <a:buFont typeface="Arial"/>
                <a:buChar char="⚬"/>
              </a:pPr>
              <a:r>
                <a:rPr lang="en-US" sz="3883">
                  <a:solidFill>
                    <a:srgbClr val="A0F5F8"/>
                  </a:solidFill>
                  <a:latin typeface="Open Sans"/>
                  <a:ea typeface="Open Sans"/>
                  <a:cs typeface="Open Sans"/>
                  <a:sym typeface="Open Sans"/>
                </a:rPr>
                <a:t>Location Tracking: GPS coordinates</a:t>
              </a:r>
            </a:p>
            <a:p>
              <a:pPr algn="l" marL="1676798" indent="-558933" lvl="2">
                <a:lnSpc>
                  <a:spcPts val="8543"/>
                </a:lnSpc>
                <a:buFont typeface="Arial"/>
                <a:buChar char="⚬"/>
              </a:pPr>
              <a:r>
                <a:rPr lang="en-US" sz="3883">
                  <a:solidFill>
                    <a:srgbClr val="A0F5F8"/>
                  </a:solidFill>
                  <a:latin typeface="Open Sans"/>
                  <a:ea typeface="Open Sans"/>
                  <a:cs typeface="Open Sans"/>
                  <a:sym typeface="Open Sans"/>
                </a:rPr>
                <a:t>Session Details: Start and end timestamps</a:t>
              </a:r>
            </a:p>
            <a:p>
              <a:pPr algn="l" marL="1676798" indent="-558933" lvl="2">
                <a:lnSpc>
                  <a:spcPts val="8543"/>
                </a:lnSpc>
                <a:buFont typeface="Arial"/>
                <a:buChar char="⚬"/>
              </a:pPr>
              <a:r>
                <a:rPr lang="en-US" sz="3883">
                  <a:solidFill>
                    <a:srgbClr val="A0F5F8"/>
                  </a:solidFill>
                  <a:latin typeface="Open Sans"/>
                  <a:ea typeface="Open Sans"/>
                  <a:cs typeface="Open Sans"/>
                  <a:sym typeface="Open Sans"/>
                </a:rPr>
                <a:t>IUU Reporting Data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33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84136">
            <a:off x="-2146475" y="-886378"/>
            <a:ext cx="13107492" cy="13035996"/>
          </a:xfrm>
          <a:custGeom>
            <a:avLst/>
            <a:gdLst/>
            <a:ahLst/>
            <a:cxnLst/>
            <a:rect r="r" b="b" t="t" l="l"/>
            <a:pathLst>
              <a:path h="13035996" w="13107492">
                <a:moveTo>
                  <a:pt x="0" y="0"/>
                </a:moveTo>
                <a:lnTo>
                  <a:pt x="13107492" y="0"/>
                </a:lnTo>
                <a:lnTo>
                  <a:pt x="13107492" y="13035997"/>
                </a:lnTo>
                <a:lnTo>
                  <a:pt x="0" y="130359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84136">
            <a:off x="7661298" y="-5860926"/>
            <a:ext cx="13107492" cy="13035996"/>
          </a:xfrm>
          <a:custGeom>
            <a:avLst/>
            <a:gdLst/>
            <a:ahLst/>
            <a:cxnLst/>
            <a:rect r="r" b="b" t="t" l="l"/>
            <a:pathLst>
              <a:path h="13035996" w="13107492">
                <a:moveTo>
                  <a:pt x="0" y="0"/>
                </a:moveTo>
                <a:lnTo>
                  <a:pt x="13107492" y="0"/>
                </a:lnTo>
                <a:lnTo>
                  <a:pt x="13107492" y="13035997"/>
                </a:lnTo>
                <a:lnTo>
                  <a:pt x="0" y="130359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425076" y="-212604"/>
            <a:ext cx="1760225" cy="10682048"/>
            <a:chOff x="0" y="0"/>
            <a:chExt cx="463598" cy="281337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63598" cy="2813379"/>
            </a:xfrm>
            <a:custGeom>
              <a:avLst/>
              <a:gdLst/>
              <a:ahLst/>
              <a:cxnLst/>
              <a:rect r="r" b="b" t="t" l="l"/>
              <a:pathLst>
                <a:path h="2813379" w="463598">
                  <a:moveTo>
                    <a:pt x="0" y="0"/>
                  </a:moveTo>
                  <a:lnTo>
                    <a:pt x="463598" y="0"/>
                  </a:lnTo>
                  <a:lnTo>
                    <a:pt x="463598" y="2813379"/>
                  </a:lnTo>
                  <a:lnTo>
                    <a:pt x="0" y="2813379"/>
                  </a:lnTo>
                  <a:close/>
                </a:path>
              </a:pathLst>
            </a:custGeom>
            <a:solidFill>
              <a:srgbClr val="0FC2DB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463598" cy="28038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1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-5400000">
            <a:off x="-3816265" y="5109902"/>
            <a:ext cx="8775815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Data Collection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2282801" y="1661272"/>
            <a:ext cx="14976499" cy="7470526"/>
            <a:chOff x="0" y="0"/>
            <a:chExt cx="19968666" cy="9960701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19968666" cy="9960701"/>
              <a:chOff x="0" y="0"/>
              <a:chExt cx="3295625" cy="1643912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3295625" cy="1643912"/>
              </a:xfrm>
              <a:custGeom>
                <a:avLst/>
                <a:gdLst/>
                <a:ahLst/>
                <a:cxnLst/>
                <a:rect r="r" b="b" t="t" l="l"/>
                <a:pathLst>
                  <a:path h="1643912" w="3295625">
                    <a:moveTo>
                      <a:pt x="0" y="0"/>
                    </a:moveTo>
                    <a:lnTo>
                      <a:pt x="3295625" y="0"/>
                    </a:lnTo>
                    <a:lnTo>
                      <a:pt x="3295625" y="1643912"/>
                    </a:lnTo>
                    <a:lnTo>
                      <a:pt x="0" y="1643912"/>
                    </a:lnTo>
                    <a:close/>
                  </a:path>
                </a:pathLst>
              </a:custGeom>
              <a:solidFill>
                <a:srgbClr val="08334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9525"/>
                <a:ext cx="3295625" cy="16343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10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203884" y="848363"/>
              <a:ext cx="18637795" cy="83245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838399" indent="-419200" lvl="1">
                <a:lnSpc>
                  <a:spcPts val="8543"/>
                </a:lnSpc>
                <a:buFont typeface="Arial"/>
                <a:buChar char="•"/>
              </a:pPr>
              <a:r>
                <a:rPr lang="en-US" b="true" sz="3883">
                  <a:solidFill>
                    <a:srgbClr val="A0F5F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IUU Reporting Data:</a:t>
              </a:r>
            </a:p>
            <a:p>
              <a:pPr algn="l" marL="1676798" indent="-558933" lvl="2">
                <a:lnSpc>
                  <a:spcPts val="8543"/>
                </a:lnSpc>
                <a:buFont typeface="Arial"/>
                <a:buChar char="⚬"/>
              </a:pPr>
              <a:r>
                <a:rPr lang="en-US" sz="3883">
                  <a:solidFill>
                    <a:srgbClr val="A0F5F8"/>
                  </a:solidFill>
                  <a:latin typeface="Open Sans"/>
                  <a:ea typeface="Open Sans"/>
                  <a:cs typeface="Open Sans"/>
                  <a:sym typeface="Open Sans"/>
                </a:rPr>
                <a:t>Violation Details: Specific violations</a:t>
              </a:r>
            </a:p>
            <a:p>
              <a:pPr algn="l" marL="1676798" indent="-558933" lvl="2">
                <a:lnSpc>
                  <a:spcPts val="8543"/>
                </a:lnSpc>
                <a:buFont typeface="Arial"/>
                <a:buChar char="⚬"/>
              </a:pPr>
              <a:r>
                <a:rPr lang="en-US" sz="3883">
                  <a:solidFill>
                    <a:srgbClr val="A0F5F8"/>
                  </a:solidFill>
                  <a:latin typeface="Open Sans"/>
                  <a:ea typeface="Open Sans"/>
                  <a:cs typeface="Open Sans"/>
                  <a:sym typeface="Open Sans"/>
                </a:rPr>
                <a:t>Fishing Gear Involved: Illegal or unauthorized gear</a:t>
              </a:r>
            </a:p>
            <a:p>
              <a:pPr algn="l" marL="1676798" indent="-558933" lvl="2">
                <a:lnSpc>
                  <a:spcPts val="8543"/>
                </a:lnSpc>
                <a:buFont typeface="Arial"/>
                <a:buChar char="⚬"/>
              </a:pPr>
              <a:r>
                <a:rPr lang="en-US" sz="3883">
                  <a:solidFill>
                    <a:srgbClr val="A0F5F8"/>
                  </a:solidFill>
                  <a:latin typeface="Open Sans"/>
                  <a:ea typeface="Open Sans"/>
                  <a:cs typeface="Open Sans"/>
                  <a:sym typeface="Open Sans"/>
                </a:rPr>
                <a:t>Violator Information: Identifier of violator and vessel</a:t>
              </a:r>
            </a:p>
            <a:p>
              <a:pPr algn="l" marL="1676798" indent="-558933" lvl="2">
                <a:lnSpc>
                  <a:spcPts val="8543"/>
                </a:lnSpc>
                <a:buFont typeface="Arial"/>
                <a:buChar char="⚬"/>
              </a:pPr>
              <a:r>
                <a:rPr lang="en-US" sz="3883">
                  <a:solidFill>
                    <a:srgbClr val="A0F5F8"/>
                  </a:solidFill>
                  <a:latin typeface="Open Sans"/>
                  <a:ea typeface="Open Sans"/>
                  <a:cs typeface="Open Sans"/>
                  <a:sym typeface="Open Sans"/>
                </a:rPr>
                <a:t>Location of Violation: GPS coordinates</a:t>
              </a:r>
            </a:p>
            <a:p>
              <a:pPr algn="l" marL="1676798" indent="-558933" lvl="2">
                <a:lnSpc>
                  <a:spcPts val="8543"/>
                </a:lnSpc>
                <a:buFont typeface="Arial"/>
                <a:buChar char="⚬"/>
              </a:pPr>
              <a:r>
                <a:rPr lang="en-US" sz="3883">
                  <a:solidFill>
                    <a:srgbClr val="A0F5F8"/>
                  </a:solidFill>
                  <a:latin typeface="Open Sans"/>
                  <a:ea typeface="Open Sans"/>
                  <a:cs typeface="Open Sans"/>
                  <a:sym typeface="Open Sans"/>
                </a:rPr>
                <a:t>Supporting Evidence: Photos or multimedia evidence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33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84136">
            <a:off x="-2146475" y="-886378"/>
            <a:ext cx="13107492" cy="13035996"/>
          </a:xfrm>
          <a:custGeom>
            <a:avLst/>
            <a:gdLst/>
            <a:ahLst/>
            <a:cxnLst/>
            <a:rect r="r" b="b" t="t" l="l"/>
            <a:pathLst>
              <a:path h="13035996" w="13107492">
                <a:moveTo>
                  <a:pt x="0" y="0"/>
                </a:moveTo>
                <a:lnTo>
                  <a:pt x="13107492" y="0"/>
                </a:lnTo>
                <a:lnTo>
                  <a:pt x="13107492" y="13035997"/>
                </a:lnTo>
                <a:lnTo>
                  <a:pt x="0" y="130359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84136">
            <a:off x="7661298" y="-5860926"/>
            <a:ext cx="13107492" cy="13035996"/>
          </a:xfrm>
          <a:custGeom>
            <a:avLst/>
            <a:gdLst/>
            <a:ahLst/>
            <a:cxnLst/>
            <a:rect r="r" b="b" t="t" l="l"/>
            <a:pathLst>
              <a:path h="13035996" w="13107492">
                <a:moveTo>
                  <a:pt x="0" y="0"/>
                </a:moveTo>
                <a:lnTo>
                  <a:pt x="13107492" y="0"/>
                </a:lnTo>
                <a:lnTo>
                  <a:pt x="13107492" y="13035997"/>
                </a:lnTo>
                <a:lnTo>
                  <a:pt x="0" y="130359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815389" y="1358656"/>
            <a:ext cx="13457222" cy="7569687"/>
          </a:xfrm>
          <a:custGeom>
            <a:avLst/>
            <a:gdLst/>
            <a:ahLst/>
            <a:cxnLst/>
            <a:rect r="r" b="b" t="t" l="l"/>
            <a:pathLst>
              <a:path h="7569687" w="13457222">
                <a:moveTo>
                  <a:pt x="0" y="0"/>
                </a:moveTo>
                <a:lnTo>
                  <a:pt x="13457222" y="0"/>
                </a:lnTo>
                <a:lnTo>
                  <a:pt x="13457222" y="7569688"/>
                </a:lnTo>
                <a:lnTo>
                  <a:pt x="0" y="75696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-425076" y="-212604"/>
            <a:ext cx="1760225" cy="10682048"/>
            <a:chOff x="0" y="0"/>
            <a:chExt cx="463598" cy="281337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3598" cy="2813379"/>
            </a:xfrm>
            <a:custGeom>
              <a:avLst/>
              <a:gdLst/>
              <a:ahLst/>
              <a:cxnLst/>
              <a:rect r="r" b="b" t="t" l="l"/>
              <a:pathLst>
                <a:path h="2813379" w="463598">
                  <a:moveTo>
                    <a:pt x="0" y="0"/>
                  </a:moveTo>
                  <a:lnTo>
                    <a:pt x="463598" y="0"/>
                  </a:lnTo>
                  <a:lnTo>
                    <a:pt x="463598" y="2813379"/>
                  </a:lnTo>
                  <a:lnTo>
                    <a:pt x="0" y="2813379"/>
                  </a:lnTo>
                  <a:close/>
                </a:path>
              </a:pathLst>
            </a:custGeom>
            <a:solidFill>
              <a:srgbClr val="0FC2DB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9525"/>
              <a:ext cx="463598" cy="28038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1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-5400000">
            <a:off x="-3816265" y="5109902"/>
            <a:ext cx="8775815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Technology Stack - Mobile Application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33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84136">
            <a:off x="-2146475" y="-886378"/>
            <a:ext cx="13107492" cy="13035996"/>
          </a:xfrm>
          <a:custGeom>
            <a:avLst/>
            <a:gdLst/>
            <a:ahLst/>
            <a:cxnLst/>
            <a:rect r="r" b="b" t="t" l="l"/>
            <a:pathLst>
              <a:path h="13035996" w="13107492">
                <a:moveTo>
                  <a:pt x="0" y="0"/>
                </a:moveTo>
                <a:lnTo>
                  <a:pt x="13107492" y="0"/>
                </a:lnTo>
                <a:lnTo>
                  <a:pt x="13107492" y="13035997"/>
                </a:lnTo>
                <a:lnTo>
                  <a:pt x="0" y="130359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84136">
            <a:off x="7661298" y="-5860926"/>
            <a:ext cx="13107492" cy="13035996"/>
          </a:xfrm>
          <a:custGeom>
            <a:avLst/>
            <a:gdLst/>
            <a:ahLst/>
            <a:cxnLst/>
            <a:rect r="r" b="b" t="t" l="l"/>
            <a:pathLst>
              <a:path h="13035996" w="13107492">
                <a:moveTo>
                  <a:pt x="0" y="0"/>
                </a:moveTo>
                <a:lnTo>
                  <a:pt x="13107492" y="0"/>
                </a:lnTo>
                <a:lnTo>
                  <a:pt x="13107492" y="13035997"/>
                </a:lnTo>
                <a:lnTo>
                  <a:pt x="0" y="130359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425076" y="-212604"/>
            <a:ext cx="1760225" cy="10682048"/>
            <a:chOff x="0" y="0"/>
            <a:chExt cx="463598" cy="281337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63598" cy="2813379"/>
            </a:xfrm>
            <a:custGeom>
              <a:avLst/>
              <a:gdLst/>
              <a:ahLst/>
              <a:cxnLst/>
              <a:rect r="r" b="b" t="t" l="l"/>
              <a:pathLst>
                <a:path h="2813379" w="463598">
                  <a:moveTo>
                    <a:pt x="0" y="0"/>
                  </a:moveTo>
                  <a:lnTo>
                    <a:pt x="463598" y="0"/>
                  </a:lnTo>
                  <a:lnTo>
                    <a:pt x="463598" y="2813379"/>
                  </a:lnTo>
                  <a:lnTo>
                    <a:pt x="0" y="2813379"/>
                  </a:lnTo>
                  <a:close/>
                </a:path>
              </a:pathLst>
            </a:custGeom>
            <a:solidFill>
              <a:srgbClr val="0FC2DB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463598" cy="28038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1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-5400000">
            <a:off x="-3816265" y="5109902"/>
            <a:ext cx="8775815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Technology Stack - Mobile Application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3034653" y="1358656"/>
            <a:ext cx="13457222" cy="7569687"/>
          </a:xfrm>
          <a:custGeom>
            <a:avLst/>
            <a:gdLst/>
            <a:ahLst/>
            <a:cxnLst/>
            <a:rect r="r" b="b" t="t" l="l"/>
            <a:pathLst>
              <a:path h="7569687" w="13457222">
                <a:moveTo>
                  <a:pt x="0" y="0"/>
                </a:moveTo>
                <a:lnTo>
                  <a:pt x="13457222" y="0"/>
                </a:lnTo>
                <a:lnTo>
                  <a:pt x="13457222" y="7569688"/>
                </a:lnTo>
                <a:lnTo>
                  <a:pt x="0" y="75696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33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84136">
            <a:off x="-2146475" y="-886378"/>
            <a:ext cx="13107492" cy="13035996"/>
          </a:xfrm>
          <a:custGeom>
            <a:avLst/>
            <a:gdLst/>
            <a:ahLst/>
            <a:cxnLst/>
            <a:rect r="r" b="b" t="t" l="l"/>
            <a:pathLst>
              <a:path h="13035996" w="13107492">
                <a:moveTo>
                  <a:pt x="0" y="0"/>
                </a:moveTo>
                <a:lnTo>
                  <a:pt x="13107492" y="0"/>
                </a:lnTo>
                <a:lnTo>
                  <a:pt x="13107492" y="13035997"/>
                </a:lnTo>
                <a:lnTo>
                  <a:pt x="0" y="130359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84136">
            <a:off x="7661298" y="-5860926"/>
            <a:ext cx="13107492" cy="13035996"/>
          </a:xfrm>
          <a:custGeom>
            <a:avLst/>
            <a:gdLst/>
            <a:ahLst/>
            <a:cxnLst/>
            <a:rect r="r" b="b" t="t" l="l"/>
            <a:pathLst>
              <a:path h="13035996" w="13107492">
                <a:moveTo>
                  <a:pt x="0" y="0"/>
                </a:moveTo>
                <a:lnTo>
                  <a:pt x="13107492" y="0"/>
                </a:lnTo>
                <a:lnTo>
                  <a:pt x="13107492" y="13035997"/>
                </a:lnTo>
                <a:lnTo>
                  <a:pt x="0" y="130359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3473884" y="371199"/>
            <a:ext cx="12197280" cy="9544601"/>
            <a:chOff x="0" y="0"/>
            <a:chExt cx="2967205" cy="232189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967205" cy="2321894"/>
            </a:xfrm>
            <a:custGeom>
              <a:avLst/>
              <a:gdLst/>
              <a:ahLst/>
              <a:cxnLst/>
              <a:rect r="r" b="b" t="t" l="l"/>
              <a:pathLst>
                <a:path h="2321894" w="2967205">
                  <a:moveTo>
                    <a:pt x="0" y="0"/>
                  </a:moveTo>
                  <a:lnTo>
                    <a:pt x="2967205" y="0"/>
                  </a:lnTo>
                  <a:lnTo>
                    <a:pt x="2967205" y="2321894"/>
                  </a:lnTo>
                  <a:lnTo>
                    <a:pt x="0" y="2321894"/>
                  </a:lnTo>
                  <a:close/>
                </a:path>
              </a:pathLst>
            </a:custGeom>
            <a:solidFill>
              <a:srgbClr val="083349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2967205" cy="23123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1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4429634" y="681164"/>
            <a:ext cx="4399213" cy="8909798"/>
          </a:xfrm>
          <a:custGeom>
            <a:avLst/>
            <a:gdLst/>
            <a:ahLst/>
            <a:cxnLst/>
            <a:rect r="r" b="b" t="t" l="l"/>
            <a:pathLst>
              <a:path h="8909798" w="4399213">
                <a:moveTo>
                  <a:pt x="0" y="0"/>
                </a:moveTo>
                <a:lnTo>
                  <a:pt x="4399213" y="0"/>
                </a:lnTo>
                <a:lnTo>
                  <a:pt x="4399213" y="8909798"/>
                </a:lnTo>
                <a:lnTo>
                  <a:pt x="0" y="89097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658506" y="681164"/>
            <a:ext cx="4324756" cy="8909798"/>
          </a:xfrm>
          <a:custGeom>
            <a:avLst/>
            <a:gdLst/>
            <a:ahLst/>
            <a:cxnLst/>
            <a:rect r="r" b="b" t="t" l="l"/>
            <a:pathLst>
              <a:path h="8909798" w="4324756">
                <a:moveTo>
                  <a:pt x="0" y="0"/>
                </a:moveTo>
                <a:lnTo>
                  <a:pt x="4324756" y="0"/>
                </a:lnTo>
                <a:lnTo>
                  <a:pt x="4324756" y="8909798"/>
                </a:lnTo>
                <a:lnTo>
                  <a:pt x="0" y="890979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-425076" y="-212604"/>
            <a:ext cx="1760225" cy="10682048"/>
            <a:chOff x="0" y="0"/>
            <a:chExt cx="463598" cy="281337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63598" cy="2813379"/>
            </a:xfrm>
            <a:custGeom>
              <a:avLst/>
              <a:gdLst/>
              <a:ahLst/>
              <a:cxnLst/>
              <a:rect r="r" b="b" t="t" l="l"/>
              <a:pathLst>
                <a:path h="2813379" w="463598">
                  <a:moveTo>
                    <a:pt x="0" y="0"/>
                  </a:moveTo>
                  <a:lnTo>
                    <a:pt x="463598" y="0"/>
                  </a:lnTo>
                  <a:lnTo>
                    <a:pt x="463598" y="2813379"/>
                  </a:lnTo>
                  <a:lnTo>
                    <a:pt x="0" y="2813379"/>
                  </a:lnTo>
                  <a:close/>
                </a:path>
              </a:pathLst>
            </a:custGeom>
            <a:solidFill>
              <a:srgbClr val="0FC2DB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9525"/>
              <a:ext cx="463598" cy="28038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1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-5400000">
            <a:off x="-4192858" y="4752358"/>
            <a:ext cx="9529003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System Features - Mobile Application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33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84136">
            <a:off x="-2146475" y="-886378"/>
            <a:ext cx="13107492" cy="13035996"/>
          </a:xfrm>
          <a:custGeom>
            <a:avLst/>
            <a:gdLst/>
            <a:ahLst/>
            <a:cxnLst/>
            <a:rect r="r" b="b" t="t" l="l"/>
            <a:pathLst>
              <a:path h="13035996" w="13107492">
                <a:moveTo>
                  <a:pt x="0" y="0"/>
                </a:moveTo>
                <a:lnTo>
                  <a:pt x="13107492" y="0"/>
                </a:lnTo>
                <a:lnTo>
                  <a:pt x="13107492" y="13035997"/>
                </a:lnTo>
                <a:lnTo>
                  <a:pt x="0" y="130359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84136">
            <a:off x="7661298" y="-5860926"/>
            <a:ext cx="13107492" cy="13035996"/>
          </a:xfrm>
          <a:custGeom>
            <a:avLst/>
            <a:gdLst/>
            <a:ahLst/>
            <a:cxnLst/>
            <a:rect r="r" b="b" t="t" l="l"/>
            <a:pathLst>
              <a:path h="13035996" w="13107492">
                <a:moveTo>
                  <a:pt x="0" y="0"/>
                </a:moveTo>
                <a:lnTo>
                  <a:pt x="13107492" y="0"/>
                </a:lnTo>
                <a:lnTo>
                  <a:pt x="13107492" y="13035997"/>
                </a:lnTo>
                <a:lnTo>
                  <a:pt x="0" y="130359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3840838" y="371199"/>
            <a:ext cx="12197280" cy="9544601"/>
            <a:chOff x="0" y="0"/>
            <a:chExt cx="2967205" cy="232189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967205" cy="2321894"/>
            </a:xfrm>
            <a:custGeom>
              <a:avLst/>
              <a:gdLst/>
              <a:ahLst/>
              <a:cxnLst/>
              <a:rect r="r" b="b" t="t" l="l"/>
              <a:pathLst>
                <a:path h="2321894" w="2967205">
                  <a:moveTo>
                    <a:pt x="0" y="0"/>
                  </a:moveTo>
                  <a:lnTo>
                    <a:pt x="2967205" y="0"/>
                  </a:lnTo>
                  <a:lnTo>
                    <a:pt x="2967205" y="2321894"/>
                  </a:lnTo>
                  <a:lnTo>
                    <a:pt x="0" y="2321894"/>
                  </a:lnTo>
                  <a:close/>
                </a:path>
              </a:pathLst>
            </a:custGeom>
            <a:solidFill>
              <a:srgbClr val="083349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2967205" cy="23123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1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4674826" y="819159"/>
            <a:ext cx="4642738" cy="8685133"/>
          </a:xfrm>
          <a:custGeom>
            <a:avLst/>
            <a:gdLst/>
            <a:ahLst/>
            <a:cxnLst/>
            <a:rect r="r" b="b" t="t" l="l"/>
            <a:pathLst>
              <a:path h="8685133" w="4642738">
                <a:moveTo>
                  <a:pt x="0" y="0"/>
                </a:moveTo>
                <a:lnTo>
                  <a:pt x="4642738" y="0"/>
                </a:lnTo>
                <a:lnTo>
                  <a:pt x="4642738" y="8685133"/>
                </a:lnTo>
                <a:lnTo>
                  <a:pt x="0" y="86851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909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506110" y="831990"/>
            <a:ext cx="4635282" cy="8659471"/>
          </a:xfrm>
          <a:custGeom>
            <a:avLst/>
            <a:gdLst/>
            <a:ahLst/>
            <a:cxnLst/>
            <a:rect r="r" b="b" t="t" l="l"/>
            <a:pathLst>
              <a:path h="8659471" w="4635282">
                <a:moveTo>
                  <a:pt x="0" y="0"/>
                </a:moveTo>
                <a:lnTo>
                  <a:pt x="4635282" y="0"/>
                </a:lnTo>
                <a:lnTo>
                  <a:pt x="4635282" y="8659471"/>
                </a:lnTo>
                <a:lnTo>
                  <a:pt x="0" y="86594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10377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-425076" y="-212604"/>
            <a:ext cx="1760225" cy="10682048"/>
            <a:chOff x="0" y="0"/>
            <a:chExt cx="463598" cy="281337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63598" cy="2813379"/>
            </a:xfrm>
            <a:custGeom>
              <a:avLst/>
              <a:gdLst/>
              <a:ahLst/>
              <a:cxnLst/>
              <a:rect r="r" b="b" t="t" l="l"/>
              <a:pathLst>
                <a:path h="2813379" w="463598">
                  <a:moveTo>
                    <a:pt x="0" y="0"/>
                  </a:moveTo>
                  <a:lnTo>
                    <a:pt x="463598" y="0"/>
                  </a:lnTo>
                  <a:lnTo>
                    <a:pt x="463598" y="2813379"/>
                  </a:lnTo>
                  <a:lnTo>
                    <a:pt x="0" y="2813379"/>
                  </a:lnTo>
                  <a:close/>
                </a:path>
              </a:pathLst>
            </a:custGeom>
            <a:solidFill>
              <a:srgbClr val="0FC2DB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9525"/>
              <a:ext cx="463598" cy="28038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1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-5400000">
            <a:off x="-3816265" y="5109902"/>
            <a:ext cx="8775815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System Features - Mobile Application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33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84136">
            <a:off x="-2146475" y="-886378"/>
            <a:ext cx="13107492" cy="13035996"/>
          </a:xfrm>
          <a:custGeom>
            <a:avLst/>
            <a:gdLst/>
            <a:ahLst/>
            <a:cxnLst/>
            <a:rect r="r" b="b" t="t" l="l"/>
            <a:pathLst>
              <a:path h="13035996" w="13107492">
                <a:moveTo>
                  <a:pt x="0" y="0"/>
                </a:moveTo>
                <a:lnTo>
                  <a:pt x="13107492" y="0"/>
                </a:lnTo>
                <a:lnTo>
                  <a:pt x="13107492" y="13035997"/>
                </a:lnTo>
                <a:lnTo>
                  <a:pt x="0" y="130359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84136">
            <a:off x="7661298" y="-5860926"/>
            <a:ext cx="13107492" cy="13035996"/>
          </a:xfrm>
          <a:custGeom>
            <a:avLst/>
            <a:gdLst/>
            <a:ahLst/>
            <a:cxnLst/>
            <a:rect r="r" b="b" t="t" l="l"/>
            <a:pathLst>
              <a:path h="13035996" w="13107492">
                <a:moveTo>
                  <a:pt x="0" y="0"/>
                </a:moveTo>
                <a:lnTo>
                  <a:pt x="13107492" y="0"/>
                </a:lnTo>
                <a:lnTo>
                  <a:pt x="13107492" y="13035997"/>
                </a:lnTo>
                <a:lnTo>
                  <a:pt x="0" y="130359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614154" y="918396"/>
            <a:ext cx="14352794" cy="8450207"/>
          </a:xfrm>
          <a:custGeom>
            <a:avLst/>
            <a:gdLst/>
            <a:ahLst/>
            <a:cxnLst/>
            <a:rect r="r" b="b" t="t" l="l"/>
            <a:pathLst>
              <a:path h="8450207" w="14352794">
                <a:moveTo>
                  <a:pt x="0" y="0"/>
                </a:moveTo>
                <a:lnTo>
                  <a:pt x="14352794" y="0"/>
                </a:lnTo>
                <a:lnTo>
                  <a:pt x="14352794" y="8450208"/>
                </a:lnTo>
                <a:lnTo>
                  <a:pt x="0" y="84502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-425076" y="-212604"/>
            <a:ext cx="1760225" cy="10682048"/>
            <a:chOff x="0" y="0"/>
            <a:chExt cx="463598" cy="281337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3598" cy="2813379"/>
            </a:xfrm>
            <a:custGeom>
              <a:avLst/>
              <a:gdLst/>
              <a:ahLst/>
              <a:cxnLst/>
              <a:rect r="r" b="b" t="t" l="l"/>
              <a:pathLst>
                <a:path h="2813379" w="463598">
                  <a:moveTo>
                    <a:pt x="0" y="0"/>
                  </a:moveTo>
                  <a:lnTo>
                    <a:pt x="463598" y="0"/>
                  </a:lnTo>
                  <a:lnTo>
                    <a:pt x="463598" y="2813379"/>
                  </a:lnTo>
                  <a:lnTo>
                    <a:pt x="0" y="2813379"/>
                  </a:lnTo>
                  <a:close/>
                </a:path>
              </a:pathLst>
            </a:custGeom>
            <a:solidFill>
              <a:srgbClr val="0FC2DB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9525"/>
              <a:ext cx="463598" cy="28038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1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-5400000">
            <a:off x="-4192858" y="4752358"/>
            <a:ext cx="9529003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System Features - Web Platform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33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84136">
            <a:off x="-2146475" y="-886378"/>
            <a:ext cx="13107492" cy="13035996"/>
          </a:xfrm>
          <a:custGeom>
            <a:avLst/>
            <a:gdLst/>
            <a:ahLst/>
            <a:cxnLst/>
            <a:rect r="r" b="b" t="t" l="l"/>
            <a:pathLst>
              <a:path h="13035996" w="13107492">
                <a:moveTo>
                  <a:pt x="0" y="0"/>
                </a:moveTo>
                <a:lnTo>
                  <a:pt x="13107492" y="0"/>
                </a:lnTo>
                <a:lnTo>
                  <a:pt x="13107492" y="13035997"/>
                </a:lnTo>
                <a:lnTo>
                  <a:pt x="0" y="130359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84136">
            <a:off x="7661298" y="-5860926"/>
            <a:ext cx="13107492" cy="13035996"/>
          </a:xfrm>
          <a:custGeom>
            <a:avLst/>
            <a:gdLst/>
            <a:ahLst/>
            <a:cxnLst/>
            <a:rect r="r" b="b" t="t" l="l"/>
            <a:pathLst>
              <a:path h="13035996" w="13107492">
                <a:moveTo>
                  <a:pt x="0" y="0"/>
                </a:moveTo>
                <a:lnTo>
                  <a:pt x="13107492" y="0"/>
                </a:lnTo>
                <a:lnTo>
                  <a:pt x="13107492" y="13035997"/>
                </a:lnTo>
                <a:lnTo>
                  <a:pt x="0" y="130359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439099" y="795940"/>
            <a:ext cx="5568713" cy="8695121"/>
          </a:xfrm>
          <a:custGeom>
            <a:avLst/>
            <a:gdLst/>
            <a:ahLst/>
            <a:cxnLst/>
            <a:rect r="r" b="b" t="t" l="l"/>
            <a:pathLst>
              <a:path h="8695121" w="5568713">
                <a:moveTo>
                  <a:pt x="0" y="0"/>
                </a:moveTo>
                <a:lnTo>
                  <a:pt x="5568714" y="0"/>
                </a:lnTo>
                <a:lnTo>
                  <a:pt x="5568714" y="8695120"/>
                </a:lnTo>
                <a:lnTo>
                  <a:pt x="0" y="86951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-425076" y="-212604"/>
            <a:ext cx="1760225" cy="10682048"/>
            <a:chOff x="0" y="0"/>
            <a:chExt cx="463598" cy="281337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3598" cy="2813379"/>
            </a:xfrm>
            <a:custGeom>
              <a:avLst/>
              <a:gdLst/>
              <a:ahLst/>
              <a:cxnLst/>
              <a:rect r="r" b="b" t="t" l="l"/>
              <a:pathLst>
                <a:path h="2813379" w="463598">
                  <a:moveTo>
                    <a:pt x="0" y="0"/>
                  </a:moveTo>
                  <a:lnTo>
                    <a:pt x="463598" y="0"/>
                  </a:lnTo>
                  <a:lnTo>
                    <a:pt x="463598" y="2813379"/>
                  </a:lnTo>
                  <a:lnTo>
                    <a:pt x="0" y="2813379"/>
                  </a:lnTo>
                  <a:close/>
                </a:path>
              </a:pathLst>
            </a:custGeom>
            <a:solidFill>
              <a:srgbClr val="0FC2DB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9525"/>
              <a:ext cx="463598" cy="28038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1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-5400000">
            <a:off x="-4192858" y="4752358"/>
            <a:ext cx="9529003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System Features - Web Platform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9669007" y="3458549"/>
            <a:ext cx="7590293" cy="6032511"/>
          </a:xfrm>
          <a:custGeom>
            <a:avLst/>
            <a:gdLst/>
            <a:ahLst/>
            <a:cxnLst/>
            <a:rect r="r" b="b" t="t" l="l"/>
            <a:pathLst>
              <a:path h="6032511" w="7590293">
                <a:moveTo>
                  <a:pt x="0" y="0"/>
                </a:moveTo>
                <a:lnTo>
                  <a:pt x="7590293" y="0"/>
                </a:lnTo>
                <a:lnTo>
                  <a:pt x="7590293" y="6032511"/>
                </a:lnTo>
                <a:lnTo>
                  <a:pt x="0" y="60325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33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84136">
            <a:off x="-2146475" y="-886378"/>
            <a:ext cx="13107492" cy="13035996"/>
          </a:xfrm>
          <a:custGeom>
            <a:avLst/>
            <a:gdLst/>
            <a:ahLst/>
            <a:cxnLst/>
            <a:rect r="r" b="b" t="t" l="l"/>
            <a:pathLst>
              <a:path h="13035996" w="13107492">
                <a:moveTo>
                  <a:pt x="0" y="0"/>
                </a:moveTo>
                <a:lnTo>
                  <a:pt x="13107492" y="0"/>
                </a:lnTo>
                <a:lnTo>
                  <a:pt x="13107492" y="13035997"/>
                </a:lnTo>
                <a:lnTo>
                  <a:pt x="0" y="130359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84136">
            <a:off x="7661298" y="-5860926"/>
            <a:ext cx="13107492" cy="13035996"/>
          </a:xfrm>
          <a:custGeom>
            <a:avLst/>
            <a:gdLst/>
            <a:ahLst/>
            <a:cxnLst/>
            <a:rect r="r" b="b" t="t" l="l"/>
            <a:pathLst>
              <a:path h="13035996" w="13107492">
                <a:moveTo>
                  <a:pt x="0" y="0"/>
                </a:moveTo>
                <a:lnTo>
                  <a:pt x="13107492" y="0"/>
                </a:lnTo>
                <a:lnTo>
                  <a:pt x="13107492" y="13035997"/>
                </a:lnTo>
                <a:lnTo>
                  <a:pt x="0" y="130359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619774" y="918396"/>
            <a:ext cx="14352794" cy="8450207"/>
          </a:xfrm>
          <a:custGeom>
            <a:avLst/>
            <a:gdLst/>
            <a:ahLst/>
            <a:cxnLst/>
            <a:rect r="r" b="b" t="t" l="l"/>
            <a:pathLst>
              <a:path h="8450207" w="14352794">
                <a:moveTo>
                  <a:pt x="0" y="0"/>
                </a:moveTo>
                <a:lnTo>
                  <a:pt x="14352794" y="0"/>
                </a:lnTo>
                <a:lnTo>
                  <a:pt x="14352794" y="8450208"/>
                </a:lnTo>
                <a:lnTo>
                  <a:pt x="0" y="84502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-425076" y="-212604"/>
            <a:ext cx="1760225" cy="10682048"/>
            <a:chOff x="0" y="0"/>
            <a:chExt cx="463598" cy="281337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3598" cy="2813379"/>
            </a:xfrm>
            <a:custGeom>
              <a:avLst/>
              <a:gdLst/>
              <a:ahLst/>
              <a:cxnLst/>
              <a:rect r="r" b="b" t="t" l="l"/>
              <a:pathLst>
                <a:path h="2813379" w="463598">
                  <a:moveTo>
                    <a:pt x="0" y="0"/>
                  </a:moveTo>
                  <a:lnTo>
                    <a:pt x="463598" y="0"/>
                  </a:lnTo>
                  <a:lnTo>
                    <a:pt x="463598" y="2813379"/>
                  </a:lnTo>
                  <a:lnTo>
                    <a:pt x="0" y="2813379"/>
                  </a:lnTo>
                  <a:close/>
                </a:path>
              </a:pathLst>
            </a:custGeom>
            <a:solidFill>
              <a:srgbClr val="0FC2DB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9525"/>
              <a:ext cx="463598" cy="28038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1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-5400000">
            <a:off x="-4192858" y="4752358"/>
            <a:ext cx="9529003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System Features - Web Platform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33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84136">
            <a:off x="-2146475" y="-886378"/>
            <a:ext cx="13107492" cy="13035996"/>
          </a:xfrm>
          <a:custGeom>
            <a:avLst/>
            <a:gdLst/>
            <a:ahLst/>
            <a:cxnLst/>
            <a:rect r="r" b="b" t="t" l="l"/>
            <a:pathLst>
              <a:path h="13035996" w="13107492">
                <a:moveTo>
                  <a:pt x="0" y="0"/>
                </a:moveTo>
                <a:lnTo>
                  <a:pt x="13107492" y="0"/>
                </a:lnTo>
                <a:lnTo>
                  <a:pt x="13107492" y="13035997"/>
                </a:lnTo>
                <a:lnTo>
                  <a:pt x="0" y="130359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84136">
            <a:off x="7661298" y="-5860926"/>
            <a:ext cx="13107492" cy="13035996"/>
          </a:xfrm>
          <a:custGeom>
            <a:avLst/>
            <a:gdLst/>
            <a:ahLst/>
            <a:cxnLst/>
            <a:rect r="r" b="b" t="t" l="l"/>
            <a:pathLst>
              <a:path h="13035996" w="13107492">
                <a:moveTo>
                  <a:pt x="0" y="0"/>
                </a:moveTo>
                <a:lnTo>
                  <a:pt x="13107492" y="0"/>
                </a:lnTo>
                <a:lnTo>
                  <a:pt x="13107492" y="13035997"/>
                </a:lnTo>
                <a:lnTo>
                  <a:pt x="0" y="130359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803268" y="1871569"/>
            <a:ext cx="4707544" cy="7520103"/>
          </a:xfrm>
          <a:custGeom>
            <a:avLst/>
            <a:gdLst/>
            <a:ahLst/>
            <a:cxnLst/>
            <a:rect r="r" b="b" t="t" l="l"/>
            <a:pathLst>
              <a:path h="7520103" w="4707544">
                <a:moveTo>
                  <a:pt x="0" y="0"/>
                </a:moveTo>
                <a:lnTo>
                  <a:pt x="4707544" y="0"/>
                </a:lnTo>
                <a:lnTo>
                  <a:pt x="4707544" y="7520103"/>
                </a:lnTo>
                <a:lnTo>
                  <a:pt x="0" y="75201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04406" t="-7400" r="-864" b="-5108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885535" y="257145"/>
            <a:ext cx="3816052" cy="4670815"/>
          </a:xfrm>
          <a:custGeom>
            <a:avLst/>
            <a:gdLst/>
            <a:ahLst/>
            <a:cxnLst/>
            <a:rect r="r" b="b" t="t" l="l"/>
            <a:pathLst>
              <a:path h="4670815" w="3816052">
                <a:moveTo>
                  <a:pt x="0" y="0"/>
                </a:moveTo>
                <a:lnTo>
                  <a:pt x="3816052" y="0"/>
                </a:lnTo>
                <a:lnTo>
                  <a:pt x="3816052" y="4670815"/>
                </a:lnTo>
                <a:lnTo>
                  <a:pt x="0" y="46708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75179" t="-13450" r="-242757" b="-13568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198474" y="5167203"/>
            <a:ext cx="3190174" cy="4934801"/>
          </a:xfrm>
          <a:custGeom>
            <a:avLst/>
            <a:gdLst/>
            <a:ahLst/>
            <a:cxnLst/>
            <a:rect r="r" b="b" t="t" l="l"/>
            <a:pathLst>
              <a:path h="4934801" w="3190174">
                <a:moveTo>
                  <a:pt x="0" y="0"/>
                </a:moveTo>
                <a:lnTo>
                  <a:pt x="3190174" y="0"/>
                </a:lnTo>
                <a:lnTo>
                  <a:pt x="3190174" y="4934801"/>
                </a:lnTo>
                <a:lnTo>
                  <a:pt x="0" y="49348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83408" t="-92833" r="-252668" b="-1120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073062" y="1028700"/>
            <a:ext cx="5801032" cy="8448172"/>
          </a:xfrm>
          <a:custGeom>
            <a:avLst/>
            <a:gdLst/>
            <a:ahLst/>
            <a:cxnLst/>
            <a:rect r="r" b="b" t="t" l="l"/>
            <a:pathLst>
              <a:path h="8448172" w="5801032">
                <a:moveTo>
                  <a:pt x="0" y="0"/>
                </a:moveTo>
                <a:lnTo>
                  <a:pt x="5801032" y="0"/>
                </a:lnTo>
                <a:lnTo>
                  <a:pt x="5801032" y="8448172"/>
                </a:lnTo>
                <a:lnTo>
                  <a:pt x="0" y="84481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99975" t="-19420" r="0" b="-14468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-425076" y="-212604"/>
            <a:ext cx="1760225" cy="10682048"/>
            <a:chOff x="0" y="0"/>
            <a:chExt cx="463598" cy="281337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63598" cy="2813379"/>
            </a:xfrm>
            <a:custGeom>
              <a:avLst/>
              <a:gdLst/>
              <a:ahLst/>
              <a:cxnLst/>
              <a:rect r="r" b="b" t="t" l="l"/>
              <a:pathLst>
                <a:path h="2813379" w="463598">
                  <a:moveTo>
                    <a:pt x="0" y="0"/>
                  </a:moveTo>
                  <a:lnTo>
                    <a:pt x="463598" y="0"/>
                  </a:lnTo>
                  <a:lnTo>
                    <a:pt x="463598" y="2813379"/>
                  </a:lnTo>
                  <a:lnTo>
                    <a:pt x="0" y="2813379"/>
                  </a:lnTo>
                  <a:close/>
                </a:path>
              </a:pathLst>
            </a:custGeom>
            <a:solidFill>
              <a:srgbClr val="0FC2DB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9525"/>
              <a:ext cx="463598" cy="28038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1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-5400000">
            <a:off x="-4192858" y="4752358"/>
            <a:ext cx="9529003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System Features - Web Platform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33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84136">
            <a:off x="-2146475" y="-886378"/>
            <a:ext cx="13107492" cy="13035996"/>
          </a:xfrm>
          <a:custGeom>
            <a:avLst/>
            <a:gdLst/>
            <a:ahLst/>
            <a:cxnLst/>
            <a:rect r="r" b="b" t="t" l="l"/>
            <a:pathLst>
              <a:path h="13035996" w="13107492">
                <a:moveTo>
                  <a:pt x="0" y="0"/>
                </a:moveTo>
                <a:lnTo>
                  <a:pt x="13107492" y="0"/>
                </a:lnTo>
                <a:lnTo>
                  <a:pt x="13107492" y="13035997"/>
                </a:lnTo>
                <a:lnTo>
                  <a:pt x="0" y="130359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84136">
            <a:off x="7900957" y="-2261144"/>
            <a:ext cx="13107492" cy="13035996"/>
          </a:xfrm>
          <a:custGeom>
            <a:avLst/>
            <a:gdLst/>
            <a:ahLst/>
            <a:cxnLst/>
            <a:rect r="r" b="b" t="t" l="l"/>
            <a:pathLst>
              <a:path h="13035996" w="13107492">
                <a:moveTo>
                  <a:pt x="0" y="0"/>
                </a:moveTo>
                <a:lnTo>
                  <a:pt x="13107492" y="0"/>
                </a:lnTo>
                <a:lnTo>
                  <a:pt x="13107492" y="13035996"/>
                </a:lnTo>
                <a:lnTo>
                  <a:pt x="0" y="130359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335149" y="6098944"/>
            <a:ext cx="10557613" cy="4188056"/>
            <a:chOff x="0" y="0"/>
            <a:chExt cx="2577067" cy="102228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77067" cy="1022286"/>
            </a:xfrm>
            <a:custGeom>
              <a:avLst/>
              <a:gdLst/>
              <a:ahLst/>
              <a:cxnLst/>
              <a:rect r="r" b="b" t="t" l="l"/>
              <a:pathLst>
                <a:path h="1022286" w="2577067">
                  <a:moveTo>
                    <a:pt x="0" y="0"/>
                  </a:moveTo>
                  <a:lnTo>
                    <a:pt x="2577067" y="0"/>
                  </a:lnTo>
                  <a:lnTo>
                    <a:pt x="2577067" y="1022286"/>
                  </a:lnTo>
                  <a:lnTo>
                    <a:pt x="0" y="1022286"/>
                  </a:lnTo>
                  <a:close/>
                </a:path>
              </a:pathLst>
            </a:custGeom>
            <a:solidFill>
              <a:srgbClr val="083349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2577067" cy="10127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1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-5400000">
            <a:off x="-2749370" y="5445918"/>
            <a:ext cx="7555625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Results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95395" y="6280457"/>
            <a:ext cx="9591571" cy="3710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8226" indent="-394113" lvl="1">
              <a:lnSpc>
                <a:spcPts val="7593"/>
              </a:lnSpc>
              <a:buFont typeface="Arial"/>
              <a:buChar char="•"/>
            </a:pPr>
            <a:r>
              <a:rPr lang="en-US" b="true" sz="3650">
                <a:solidFill>
                  <a:srgbClr val="5CE1E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Mobile App: </a:t>
            </a:r>
            <a:r>
              <a:rPr lang="en-US" sz="3650">
                <a:solidFill>
                  <a:srgbClr val="5CE1E6"/>
                </a:solidFill>
                <a:latin typeface="Open Sans"/>
                <a:ea typeface="Open Sans"/>
                <a:cs typeface="Open Sans"/>
                <a:sym typeface="Open Sans"/>
              </a:rPr>
              <a:t>Data collection and synchronization</a:t>
            </a:r>
          </a:p>
          <a:p>
            <a:pPr algn="l" marL="788226" indent="-394113" lvl="1">
              <a:lnSpc>
                <a:spcPts val="7593"/>
              </a:lnSpc>
              <a:buFont typeface="Arial"/>
              <a:buChar char="•"/>
            </a:pPr>
            <a:r>
              <a:rPr lang="en-US" b="true" sz="3650">
                <a:solidFill>
                  <a:srgbClr val="5CE1E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Web Platform: </a:t>
            </a:r>
            <a:r>
              <a:rPr lang="en-US" sz="3650">
                <a:solidFill>
                  <a:srgbClr val="5CE1E6"/>
                </a:solidFill>
                <a:latin typeface="Open Sans"/>
                <a:ea typeface="Open Sans"/>
                <a:cs typeface="Open Sans"/>
                <a:sym typeface="Open Sans"/>
              </a:rPr>
              <a:t>Geospatial visualization and analytics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2056541" y="786271"/>
            <a:ext cx="4326663" cy="4845350"/>
          </a:xfrm>
          <a:custGeom>
            <a:avLst/>
            <a:gdLst/>
            <a:ahLst/>
            <a:cxnLst/>
            <a:rect r="r" b="b" t="t" l="l"/>
            <a:pathLst>
              <a:path h="4845350" w="4326663">
                <a:moveTo>
                  <a:pt x="0" y="0"/>
                </a:moveTo>
                <a:lnTo>
                  <a:pt x="4326664" y="0"/>
                </a:lnTo>
                <a:lnTo>
                  <a:pt x="4326664" y="4845350"/>
                </a:lnTo>
                <a:lnTo>
                  <a:pt x="0" y="48453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39427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523623" y="465130"/>
            <a:ext cx="3225208" cy="4988994"/>
          </a:xfrm>
          <a:custGeom>
            <a:avLst/>
            <a:gdLst/>
            <a:ahLst/>
            <a:cxnLst/>
            <a:rect r="r" b="b" t="t" l="l"/>
            <a:pathLst>
              <a:path h="4988994" w="3225208">
                <a:moveTo>
                  <a:pt x="0" y="0"/>
                </a:moveTo>
                <a:lnTo>
                  <a:pt x="3225209" y="0"/>
                </a:lnTo>
                <a:lnTo>
                  <a:pt x="3225209" y="4988994"/>
                </a:lnTo>
                <a:lnTo>
                  <a:pt x="0" y="49889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83408" t="-92833" r="-252668" b="-1120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449640" y="3425045"/>
            <a:ext cx="4326909" cy="6301373"/>
          </a:xfrm>
          <a:custGeom>
            <a:avLst/>
            <a:gdLst/>
            <a:ahLst/>
            <a:cxnLst/>
            <a:rect r="r" b="b" t="t" l="l"/>
            <a:pathLst>
              <a:path h="6301373" w="4326909">
                <a:moveTo>
                  <a:pt x="0" y="0"/>
                </a:moveTo>
                <a:lnTo>
                  <a:pt x="4326909" y="0"/>
                </a:lnTo>
                <a:lnTo>
                  <a:pt x="4326909" y="6301373"/>
                </a:lnTo>
                <a:lnTo>
                  <a:pt x="0" y="630137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99975" t="-19420" r="0" b="-14468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-425076" y="-212604"/>
            <a:ext cx="1760225" cy="10682048"/>
            <a:chOff x="0" y="0"/>
            <a:chExt cx="463598" cy="281337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63598" cy="2813379"/>
            </a:xfrm>
            <a:custGeom>
              <a:avLst/>
              <a:gdLst/>
              <a:ahLst/>
              <a:cxnLst/>
              <a:rect r="r" b="b" t="t" l="l"/>
              <a:pathLst>
                <a:path h="2813379" w="463598">
                  <a:moveTo>
                    <a:pt x="0" y="0"/>
                  </a:moveTo>
                  <a:lnTo>
                    <a:pt x="463598" y="0"/>
                  </a:lnTo>
                  <a:lnTo>
                    <a:pt x="463598" y="2813379"/>
                  </a:lnTo>
                  <a:lnTo>
                    <a:pt x="0" y="2813379"/>
                  </a:lnTo>
                  <a:close/>
                </a:path>
              </a:pathLst>
            </a:custGeom>
            <a:solidFill>
              <a:srgbClr val="0FC2DB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9525"/>
              <a:ext cx="463598" cy="28038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10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-5400000">
            <a:off x="-4192858" y="4752358"/>
            <a:ext cx="9529003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Results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33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84136">
            <a:off x="-2146475" y="-886378"/>
            <a:ext cx="13107492" cy="13035996"/>
          </a:xfrm>
          <a:custGeom>
            <a:avLst/>
            <a:gdLst/>
            <a:ahLst/>
            <a:cxnLst/>
            <a:rect r="r" b="b" t="t" l="l"/>
            <a:pathLst>
              <a:path h="13035996" w="13107492">
                <a:moveTo>
                  <a:pt x="0" y="0"/>
                </a:moveTo>
                <a:lnTo>
                  <a:pt x="13107492" y="0"/>
                </a:lnTo>
                <a:lnTo>
                  <a:pt x="13107492" y="13035997"/>
                </a:lnTo>
                <a:lnTo>
                  <a:pt x="0" y="130359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84136">
            <a:off x="7900889" y="-2261144"/>
            <a:ext cx="13107492" cy="13035996"/>
          </a:xfrm>
          <a:custGeom>
            <a:avLst/>
            <a:gdLst/>
            <a:ahLst/>
            <a:cxnLst/>
            <a:rect r="r" b="b" t="t" l="l"/>
            <a:pathLst>
              <a:path h="13035996" w="13107492">
                <a:moveTo>
                  <a:pt x="0" y="0"/>
                </a:moveTo>
                <a:lnTo>
                  <a:pt x="13107492" y="0"/>
                </a:lnTo>
                <a:lnTo>
                  <a:pt x="13107492" y="13035996"/>
                </a:lnTo>
                <a:lnTo>
                  <a:pt x="0" y="130359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335149" y="7926184"/>
            <a:ext cx="12158069" cy="2360816"/>
            <a:chOff x="0" y="0"/>
            <a:chExt cx="3202125" cy="62177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202125" cy="621779"/>
            </a:xfrm>
            <a:custGeom>
              <a:avLst/>
              <a:gdLst/>
              <a:ahLst/>
              <a:cxnLst/>
              <a:rect r="r" b="b" t="t" l="l"/>
              <a:pathLst>
                <a:path h="621779" w="3202125">
                  <a:moveTo>
                    <a:pt x="0" y="0"/>
                  </a:moveTo>
                  <a:lnTo>
                    <a:pt x="3202125" y="0"/>
                  </a:lnTo>
                  <a:lnTo>
                    <a:pt x="3202125" y="621779"/>
                  </a:lnTo>
                  <a:lnTo>
                    <a:pt x="0" y="621779"/>
                  </a:lnTo>
                  <a:close/>
                </a:path>
              </a:pathLst>
            </a:custGeom>
            <a:solidFill>
              <a:srgbClr val="083349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3202125" cy="6122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1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4536865" y="4897276"/>
            <a:ext cx="3479210" cy="5066850"/>
          </a:xfrm>
          <a:custGeom>
            <a:avLst/>
            <a:gdLst/>
            <a:ahLst/>
            <a:cxnLst/>
            <a:rect r="r" b="b" t="t" l="l"/>
            <a:pathLst>
              <a:path h="5066850" w="3479210">
                <a:moveTo>
                  <a:pt x="0" y="0"/>
                </a:moveTo>
                <a:lnTo>
                  <a:pt x="3479210" y="0"/>
                </a:lnTo>
                <a:lnTo>
                  <a:pt x="3479210" y="5066850"/>
                </a:lnTo>
                <a:lnTo>
                  <a:pt x="0" y="50668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99975" t="-19420" r="0" b="-14468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852679" y="1698020"/>
            <a:ext cx="3150944" cy="4874117"/>
          </a:xfrm>
          <a:custGeom>
            <a:avLst/>
            <a:gdLst/>
            <a:ahLst/>
            <a:cxnLst/>
            <a:rect r="r" b="b" t="t" l="l"/>
            <a:pathLst>
              <a:path h="4874117" w="3150944">
                <a:moveTo>
                  <a:pt x="0" y="0"/>
                </a:moveTo>
                <a:lnTo>
                  <a:pt x="3150944" y="0"/>
                </a:lnTo>
                <a:lnTo>
                  <a:pt x="3150944" y="4874117"/>
                </a:lnTo>
                <a:lnTo>
                  <a:pt x="0" y="48741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83408" t="-92833" r="-252668" b="-1120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146623" y="1620044"/>
            <a:ext cx="2829414" cy="5030069"/>
          </a:xfrm>
          <a:custGeom>
            <a:avLst/>
            <a:gdLst/>
            <a:ahLst/>
            <a:cxnLst/>
            <a:rect r="r" b="b" t="t" l="l"/>
            <a:pathLst>
              <a:path h="5030069" w="2829414">
                <a:moveTo>
                  <a:pt x="0" y="0"/>
                </a:moveTo>
                <a:lnTo>
                  <a:pt x="2829414" y="0"/>
                </a:lnTo>
                <a:lnTo>
                  <a:pt x="2829414" y="5030069"/>
                </a:lnTo>
                <a:lnTo>
                  <a:pt x="0" y="50300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675466" y="8204593"/>
            <a:ext cx="11477434" cy="1546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3532" indent="-336766" lvl="1">
              <a:lnSpc>
                <a:spcPts val="6488"/>
              </a:lnSpc>
              <a:buFont typeface="Arial"/>
              <a:buChar char="•"/>
            </a:pPr>
            <a:r>
              <a:rPr lang="en-US" b="true" sz="3119">
                <a:solidFill>
                  <a:srgbClr val="5CE1E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Testing: </a:t>
            </a:r>
            <a:r>
              <a:rPr lang="en-US" sz="3119">
                <a:solidFill>
                  <a:srgbClr val="5CE1E6"/>
                </a:solidFill>
                <a:latin typeface="Open Sans"/>
                <a:ea typeface="Open Sans"/>
                <a:cs typeface="Open Sans"/>
                <a:sym typeface="Open Sans"/>
              </a:rPr>
              <a:t>Real-time land simulations validated functionality</a:t>
            </a:r>
          </a:p>
          <a:p>
            <a:pPr algn="l" marL="673532" indent="-336766" lvl="1">
              <a:lnSpc>
                <a:spcPts val="6488"/>
              </a:lnSpc>
              <a:buFont typeface="Arial"/>
              <a:buChar char="•"/>
            </a:pPr>
            <a:r>
              <a:rPr lang="en-US" b="true" sz="3119">
                <a:solidFill>
                  <a:srgbClr val="5CE1E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Limitations: </a:t>
            </a:r>
            <a:r>
              <a:rPr lang="en-US" sz="3119">
                <a:solidFill>
                  <a:srgbClr val="5CE1E6"/>
                </a:solidFill>
                <a:latin typeface="Open Sans"/>
                <a:ea typeface="Open Sans"/>
                <a:cs typeface="Open Sans"/>
                <a:sym typeface="Open Sans"/>
              </a:rPr>
              <a:t>No field testing on actual vessels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0119037" y="1620044"/>
            <a:ext cx="3920921" cy="4799172"/>
          </a:xfrm>
          <a:custGeom>
            <a:avLst/>
            <a:gdLst/>
            <a:ahLst/>
            <a:cxnLst/>
            <a:rect r="r" b="b" t="t" l="l"/>
            <a:pathLst>
              <a:path h="4799172" w="3920921">
                <a:moveTo>
                  <a:pt x="0" y="0"/>
                </a:moveTo>
                <a:lnTo>
                  <a:pt x="3920921" y="0"/>
                </a:lnTo>
                <a:lnTo>
                  <a:pt x="3920921" y="4799172"/>
                </a:lnTo>
                <a:lnTo>
                  <a:pt x="0" y="47991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75179" t="-13450" r="-242757" b="-13568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-425076" y="-212604"/>
            <a:ext cx="1760225" cy="10682048"/>
            <a:chOff x="0" y="0"/>
            <a:chExt cx="463598" cy="281337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63598" cy="2813379"/>
            </a:xfrm>
            <a:custGeom>
              <a:avLst/>
              <a:gdLst/>
              <a:ahLst/>
              <a:cxnLst/>
              <a:rect r="r" b="b" t="t" l="l"/>
              <a:pathLst>
                <a:path h="2813379" w="463598">
                  <a:moveTo>
                    <a:pt x="0" y="0"/>
                  </a:moveTo>
                  <a:lnTo>
                    <a:pt x="463598" y="0"/>
                  </a:lnTo>
                  <a:lnTo>
                    <a:pt x="463598" y="2813379"/>
                  </a:lnTo>
                  <a:lnTo>
                    <a:pt x="0" y="2813379"/>
                  </a:lnTo>
                  <a:close/>
                </a:path>
              </a:pathLst>
            </a:custGeom>
            <a:solidFill>
              <a:srgbClr val="0FC2DB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9525"/>
              <a:ext cx="463598" cy="28038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10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-5400000">
            <a:off x="-4192858" y="4752358"/>
            <a:ext cx="9529003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Testing and Limitations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33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84136">
            <a:off x="-2146475" y="-886378"/>
            <a:ext cx="13107492" cy="13035996"/>
          </a:xfrm>
          <a:custGeom>
            <a:avLst/>
            <a:gdLst/>
            <a:ahLst/>
            <a:cxnLst/>
            <a:rect r="r" b="b" t="t" l="l"/>
            <a:pathLst>
              <a:path h="13035996" w="13107492">
                <a:moveTo>
                  <a:pt x="0" y="0"/>
                </a:moveTo>
                <a:lnTo>
                  <a:pt x="13107492" y="0"/>
                </a:lnTo>
                <a:lnTo>
                  <a:pt x="13107492" y="13035997"/>
                </a:lnTo>
                <a:lnTo>
                  <a:pt x="0" y="130359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84136">
            <a:off x="7900957" y="-2261144"/>
            <a:ext cx="13107492" cy="13035996"/>
          </a:xfrm>
          <a:custGeom>
            <a:avLst/>
            <a:gdLst/>
            <a:ahLst/>
            <a:cxnLst/>
            <a:rect r="r" b="b" t="t" l="l"/>
            <a:pathLst>
              <a:path h="13035996" w="13107492">
                <a:moveTo>
                  <a:pt x="0" y="0"/>
                </a:moveTo>
                <a:lnTo>
                  <a:pt x="13107492" y="0"/>
                </a:lnTo>
                <a:lnTo>
                  <a:pt x="13107492" y="13035996"/>
                </a:lnTo>
                <a:lnTo>
                  <a:pt x="0" y="130359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865500" y="1682036"/>
            <a:ext cx="15604585" cy="7708625"/>
            <a:chOff x="0" y="0"/>
            <a:chExt cx="3430128" cy="169447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430128" cy="1694474"/>
            </a:xfrm>
            <a:custGeom>
              <a:avLst/>
              <a:gdLst/>
              <a:ahLst/>
              <a:cxnLst/>
              <a:rect r="r" b="b" t="t" l="l"/>
              <a:pathLst>
                <a:path h="1694474" w="3430128">
                  <a:moveTo>
                    <a:pt x="0" y="0"/>
                  </a:moveTo>
                  <a:lnTo>
                    <a:pt x="3430128" y="0"/>
                  </a:lnTo>
                  <a:lnTo>
                    <a:pt x="3430128" y="1694474"/>
                  </a:lnTo>
                  <a:lnTo>
                    <a:pt x="0" y="1694474"/>
                  </a:lnTo>
                  <a:close/>
                </a:path>
              </a:pathLst>
            </a:custGeom>
            <a:solidFill>
              <a:srgbClr val="083349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3430128" cy="16849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1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460013" y="2222619"/>
            <a:ext cx="13063429" cy="6394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5701" indent="-332851" lvl="1">
              <a:lnSpc>
                <a:spcPts val="6413"/>
              </a:lnSpc>
              <a:buFont typeface="Arial"/>
              <a:buChar char="•"/>
            </a:pPr>
            <a:r>
              <a:rPr lang="en-US" b="true" sz="3083">
                <a:solidFill>
                  <a:srgbClr val="5CE1E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Conclusion: </a:t>
            </a:r>
            <a:r>
              <a:rPr lang="en-US" sz="3083">
                <a:solidFill>
                  <a:srgbClr val="5CE1E6"/>
                </a:solidFill>
                <a:latin typeface="Open Sans"/>
                <a:ea typeface="Open Sans"/>
                <a:cs typeface="Open Sans"/>
                <a:sym typeface="Open Sans"/>
              </a:rPr>
              <a:t>BantayLaot is a robust solution capable for monitoring IUU fishing</a:t>
            </a:r>
          </a:p>
          <a:p>
            <a:pPr algn="l">
              <a:lnSpc>
                <a:spcPts val="6413"/>
              </a:lnSpc>
            </a:pPr>
          </a:p>
          <a:p>
            <a:pPr algn="l" marL="665701" indent="-332851" lvl="1">
              <a:lnSpc>
                <a:spcPts val="6413"/>
              </a:lnSpc>
              <a:buFont typeface="Arial"/>
              <a:buChar char="•"/>
            </a:pPr>
            <a:r>
              <a:rPr lang="en-US" b="true" sz="3083">
                <a:solidFill>
                  <a:srgbClr val="5CE1E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Recommendations:</a:t>
            </a:r>
          </a:p>
          <a:p>
            <a:pPr algn="l" marL="1331402" indent="-443801" lvl="2">
              <a:lnSpc>
                <a:spcPts val="6413"/>
              </a:lnSpc>
              <a:buFont typeface="Arial"/>
              <a:buChar char="⚬"/>
            </a:pPr>
            <a:r>
              <a:rPr lang="en-US" sz="3083">
                <a:solidFill>
                  <a:srgbClr val="5CE1E6"/>
                </a:solidFill>
                <a:latin typeface="Open Sans"/>
                <a:ea typeface="Open Sans"/>
                <a:cs typeface="Open Sans"/>
                <a:sym typeface="Open Sans"/>
              </a:rPr>
              <a:t>Conduct field testing</a:t>
            </a:r>
          </a:p>
          <a:p>
            <a:pPr algn="l" marL="1331402" indent="-443801" lvl="2">
              <a:lnSpc>
                <a:spcPts val="6413"/>
              </a:lnSpc>
              <a:buFont typeface="Arial"/>
              <a:buChar char="⚬"/>
            </a:pPr>
            <a:r>
              <a:rPr lang="en-US" sz="3083">
                <a:solidFill>
                  <a:srgbClr val="5CE1E6"/>
                </a:solidFill>
                <a:latin typeface="Open Sans"/>
                <a:ea typeface="Open Sans"/>
                <a:cs typeface="Open Sans"/>
                <a:sym typeface="Open Sans"/>
              </a:rPr>
              <a:t>U</a:t>
            </a:r>
            <a:r>
              <a:rPr lang="en-US" sz="3083">
                <a:solidFill>
                  <a:srgbClr val="5CE1E6"/>
                </a:solidFill>
                <a:latin typeface="Open Sans"/>
                <a:ea typeface="Open Sans"/>
                <a:cs typeface="Open Sans"/>
                <a:sym typeface="Open Sans"/>
              </a:rPr>
              <a:t>ser account system for security</a:t>
            </a:r>
          </a:p>
          <a:p>
            <a:pPr algn="l" marL="1331402" indent="-443801" lvl="2">
              <a:lnSpc>
                <a:spcPts val="6413"/>
              </a:lnSpc>
              <a:buFont typeface="Arial"/>
              <a:buChar char="⚬"/>
            </a:pPr>
            <a:r>
              <a:rPr lang="en-US" sz="3083">
                <a:solidFill>
                  <a:srgbClr val="5CE1E6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-US" sz="3083">
                <a:solidFill>
                  <a:srgbClr val="5CE1E6"/>
                </a:solidFill>
                <a:latin typeface="Open Sans"/>
                <a:ea typeface="Open Sans"/>
                <a:cs typeface="Open Sans"/>
                <a:sym typeface="Open Sans"/>
              </a:rPr>
              <a:t>mage processing for automated fish recognition</a:t>
            </a:r>
          </a:p>
          <a:p>
            <a:pPr algn="l" marL="1331402" indent="-443801" lvl="2">
              <a:lnSpc>
                <a:spcPts val="6413"/>
              </a:lnSpc>
              <a:buFont typeface="Arial"/>
              <a:buChar char="⚬"/>
            </a:pPr>
            <a:r>
              <a:rPr lang="en-US" sz="3083">
                <a:solidFill>
                  <a:srgbClr val="5CE1E6"/>
                </a:solidFill>
                <a:latin typeface="Open Sans"/>
                <a:ea typeface="Open Sans"/>
                <a:cs typeface="Open Sans"/>
                <a:sym typeface="Open Sans"/>
              </a:rPr>
              <a:t>Connect with government regulatory systems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-425076" y="-212604"/>
            <a:ext cx="1760225" cy="10682048"/>
            <a:chOff x="0" y="0"/>
            <a:chExt cx="463598" cy="281337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63598" cy="2813379"/>
            </a:xfrm>
            <a:custGeom>
              <a:avLst/>
              <a:gdLst/>
              <a:ahLst/>
              <a:cxnLst/>
              <a:rect r="r" b="b" t="t" l="l"/>
              <a:pathLst>
                <a:path h="2813379" w="463598">
                  <a:moveTo>
                    <a:pt x="0" y="0"/>
                  </a:moveTo>
                  <a:lnTo>
                    <a:pt x="463598" y="0"/>
                  </a:lnTo>
                  <a:lnTo>
                    <a:pt x="463598" y="2813379"/>
                  </a:lnTo>
                  <a:lnTo>
                    <a:pt x="0" y="2813379"/>
                  </a:lnTo>
                  <a:close/>
                </a:path>
              </a:pathLst>
            </a:custGeom>
            <a:solidFill>
              <a:srgbClr val="0FC2DB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9525"/>
              <a:ext cx="463598" cy="28038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1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-5400000">
            <a:off x="-4192858" y="4752358"/>
            <a:ext cx="9529003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Conclusion and Recommendations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33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477196" y="-6273964"/>
            <a:ext cx="32212006" cy="27883616"/>
            <a:chOff x="0" y="0"/>
            <a:chExt cx="42949342" cy="3717815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3336816" y="8935612"/>
              <a:ext cx="17476656" cy="17381329"/>
            </a:xfrm>
            <a:custGeom>
              <a:avLst/>
              <a:gdLst/>
              <a:ahLst/>
              <a:cxnLst/>
              <a:rect r="r" b="b" t="t" l="l"/>
              <a:pathLst>
                <a:path h="17381329" w="17476656">
                  <a:moveTo>
                    <a:pt x="0" y="0"/>
                  </a:moveTo>
                  <a:lnTo>
                    <a:pt x="17476656" y="0"/>
                  </a:lnTo>
                  <a:lnTo>
                    <a:pt x="17476656" y="17381329"/>
                  </a:lnTo>
                  <a:lnTo>
                    <a:pt x="0" y="173813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476656" cy="17381329"/>
            </a:xfrm>
            <a:custGeom>
              <a:avLst/>
              <a:gdLst/>
              <a:ahLst/>
              <a:cxnLst/>
              <a:rect r="r" b="b" t="t" l="l"/>
              <a:pathLst>
                <a:path h="17381329" w="17476656">
                  <a:moveTo>
                    <a:pt x="0" y="0"/>
                  </a:moveTo>
                  <a:lnTo>
                    <a:pt x="17476656" y="0"/>
                  </a:lnTo>
                  <a:lnTo>
                    <a:pt x="17476656" y="17381329"/>
                  </a:lnTo>
                  <a:lnTo>
                    <a:pt x="0" y="173813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25472686" y="1213774"/>
              <a:ext cx="17476656" cy="17381329"/>
            </a:xfrm>
            <a:custGeom>
              <a:avLst/>
              <a:gdLst/>
              <a:ahLst/>
              <a:cxnLst/>
              <a:rect r="r" b="b" t="t" l="l"/>
              <a:pathLst>
                <a:path h="17381329" w="17476656">
                  <a:moveTo>
                    <a:pt x="0" y="0"/>
                  </a:moveTo>
                  <a:lnTo>
                    <a:pt x="17476656" y="0"/>
                  </a:lnTo>
                  <a:lnTo>
                    <a:pt x="17476656" y="17381329"/>
                  </a:lnTo>
                  <a:lnTo>
                    <a:pt x="0" y="173813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3821231" y="19796825"/>
              <a:ext cx="17476656" cy="17381329"/>
            </a:xfrm>
            <a:custGeom>
              <a:avLst/>
              <a:gdLst/>
              <a:ahLst/>
              <a:cxnLst/>
              <a:rect r="r" b="b" t="t" l="l"/>
              <a:pathLst>
                <a:path h="17381329" w="17476656">
                  <a:moveTo>
                    <a:pt x="0" y="0"/>
                  </a:moveTo>
                  <a:lnTo>
                    <a:pt x="17476656" y="0"/>
                  </a:lnTo>
                  <a:lnTo>
                    <a:pt x="17476656" y="17381329"/>
                  </a:lnTo>
                  <a:lnTo>
                    <a:pt x="0" y="173813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4251599" y="3778322"/>
            <a:ext cx="9784802" cy="2730356"/>
            <a:chOff x="0" y="0"/>
            <a:chExt cx="2577067" cy="71910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577067" cy="719106"/>
            </a:xfrm>
            <a:custGeom>
              <a:avLst/>
              <a:gdLst/>
              <a:ahLst/>
              <a:cxnLst/>
              <a:rect r="r" b="b" t="t" l="l"/>
              <a:pathLst>
                <a:path h="719106" w="2577067">
                  <a:moveTo>
                    <a:pt x="0" y="0"/>
                  </a:moveTo>
                  <a:lnTo>
                    <a:pt x="2577067" y="0"/>
                  </a:lnTo>
                  <a:lnTo>
                    <a:pt x="2577067" y="719106"/>
                  </a:lnTo>
                  <a:lnTo>
                    <a:pt x="0" y="719106"/>
                  </a:lnTo>
                  <a:close/>
                </a:path>
              </a:pathLst>
            </a:custGeom>
            <a:solidFill>
              <a:srgbClr val="083349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2577067" cy="7095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1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6341159" y="3871279"/>
            <a:ext cx="6012879" cy="1877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40"/>
              </a:lnSpc>
            </a:pPr>
            <a:r>
              <a:rPr lang="en-US" sz="8000" b="true">
                <a:solidFill>
                  <a:srgbClr val="5CE1E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DAGYLouzTw4</dc:identifier>
  <dcterms:modified xsi:type="dcterms:W3CDTF">2011-08-01T06:04:30Z</dcterms:modified>
  <cp:revision>1</cp:revision>
  <dc:title>Neon SP Evangelion</dc:title>
</cp:coreProperties>
</file>